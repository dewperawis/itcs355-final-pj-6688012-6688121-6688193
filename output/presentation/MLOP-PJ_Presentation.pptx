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Consolas" panose="020B0609020204030204" pitchFamily="49" charset="0"/>
      <p:regular r:id="rId22"/>
      <p:bold r:id="rId23"/>
      <p:italic r:id="rId24"/>
      <p:boldItalic r:id="rId25"/>
    </p:embeddedFont>
    <p:embeddedFont>
      <p:font typeface="League Spartan" panose="020B0604020202020204" charset="0"/>
      <p:regular r:id="rId26"/>
    </p:embeddedFont>
    <p:embeddedFont>
      <p:font typeface="Poppins" panose="00000500000000000000" pitchFamily="2" charset="0"/>
      <p:regular r:id="rId27"/>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51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15 seconds. Introduce our team and the travel profile service. We focus on the working MLOps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45 seconds.</a:t>
            </a:r>
          </a:p>
          <a:p>
            <a:r>
              <a:t>A travel platform can group users by their rating profiles. We take 24 category ratings and return a segment, distance, uncertainty flag, and model version. Names are provisional; we have not tested recommendation quality with users.</a:t>
            </a:r>
          </a:p>
          <a:p>
            <a:r>
              <a:t>Source: docs/MODEL_CARD.md; reports/bundle-manifest.json; UCI [1]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40 seconds.</a:t>
            </a:r>
          </a:p>
          <a:p>
            <a:r>
              <a:t>Follow the arrows from versioned data to the live endpoint. Azure ML trains and registers the model. Actions checks the code and deploys an immutable ACR image. Monitor records requests and checks the semantic canary. Cloud-specific code stays in cloudlayer.</a:t>
            </a:r>
          </a:p>
          <a:p>
            <a:r>
              <a:t>Source: README.md; docs/reference/course/project/project-brief.md [2]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25 seconds.</a:t>
            </a:r>
          </a:p>
          <a:p>
            <a:r>
              <a:t>UCI Travel Review Ratings is licensed CC BY 4.0. We quarantined two malformed rows, removed user IDs from features, and kept duplicates in one split. We kept zeros as supplied and fit preprocessing only on training data. The fresh DVC pull passed.</a:t>
            </a:r>
          </a:p>
          <a:p>
            <a:r>
              <a:t>Source: reports/data-audit.json; prepared-data.json; selection.json; UCI [1]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25 seconds.</a:t>
            </a:r>
          </a:p>
          <a:p>
            <a:r>
              <a:t>The managed training job completed and the registered model is travel-style version 1. Azure checks a fresh fit against the selected model before exporting the canonical bundle. Startup checks the bundle hash and golden predictions. K-Means test silhouette is 0.1445; model quality is not the main capstone focus.</a:t>
            </a:r>
          </a:p>
          <a:p>
            <a:r>
              <a:t>Source: reports/finish-training-registry.json; bundle-manifest.json; ci-deploy-result.json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90 seconds.</a:t>
            </a:r>
          </a:p>
          <a:p>
            <a:r>
              <a:t>Live demo: open Notebook 22 and run the small smoke check in PRESENTATION.md. Show one valid prediction, an incomplete profile returning 422, and a batch of 100. A valid uncertain profile returns 200 with a null segment. The example shown here is a saved real HTTP response, not a live screenshot.</a:t>
            </a:r>
          </a:p>
          <a:p>
            <a:r>
              <a:t>Source: output/presentation/evidence/api-demo.json; service/schemas.py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35 seconds.</a:t>
            </a:r>
          </a:p>
          <a:p>
            <a:r>
              <a:t>Both saved runs use commit 9fea51a. In the normal run, tests and deployment passed. In the deliberate failure run, tests failed and deployment was skipped. Click the run links to show the actual jobs. These runs do not verify later local code changes.</a:t>
            </a:r>
          </a:p>
          <a:p>
            <a:r>
              <a:t>Source: reports/ci-runs.json; reports/ci-deploy-result.json; .github/workflows/ci.yml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25 seconds.</a:t>
            </a:r>
          </a:p>
          <a:p>
            <a:r>
              <a:t>Warm tests used 200 requests, concurrency 10, batch size 1, and excluded warm-up requests. All had zero errors. The pooled-client test used parallel warm-up and connection reuse, so it is a separate measurement, not proof of a server speedup. Azure timing includes the WSL network path. Cold start is one readiness request after verified zero replicas, not a percentile.</a:t>
            </a:r>
          </a:p>
          <a:p>
            <a:r>
              <a:t>Source: reports/serving-recheck/local-load.json; azure-load.json; pooled-load.json; finish-cold.json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25 seconds.</a:t>
            </a:r>
          </a:p>
          <a:p>
            <a:r>
              <a:t>This chart uses actual saved Log Analytics bins, not an Azure Portal screenshot. The dashboard is MLOP Travel Style. Logs contain derived counts, status, latency, and model version rather than full profiles. Logged p95 is application timing and must not be compared directly with client HTTPS p95. An actual semantic alert fired and later resolved; email notification is not configured.</a:t>
            </a:r>
          </a:p>
          <a:p>
            <a:r>
              <a:t>Source: reports/azure-telemetry.json; finish-monitor.json; finish-alert.json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45 seconds.</a:t>
            </a:r>
          </a:p>
          <a:p>
            <a:r>
              <a:t>This is saved failure evidence from a separate staging app. We changed the segment mapping; the canary returned 503. The first recovery attempt failed, so the total detection-to-confirmed-recovery time was about seven minutes sixteen seconds. We restored configuration, stopped and started staging, and checked the semantic canary twice. The actual alert is separate evidence. The failure was added to regression checks.</a:t>
            </a:r>
          </a:p>
          <a:p>
            <a:r>
              <a:t>Source: reports/finish-failure.json; finish-alert.json; tests/test_api.py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20 seconds.</a:t>
            </a:r>
          </a:p>
          <a:p>
            <a:r>
              <a:t>We used a maximum feature-wise KS statistic. The reference has 1,908 rows and the recent sample has 200. One hundred calibration rounds set the threshold. Adding 1.5 to the first four features, clipped to 0-5, caused the alert condition. This is an offline controlled test, not observed temporal drift or evidence of concept drift.</a:t>
            </a:r>
          </a:p>
          <a:p>
            <a:r>
              <a:t>Source: reports/input-drift.json; monitoring/drift.py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30 seconds.</a:t>
            </a:r>
          </a:p>
          <a:p>
            <a:r>
              <a:t>The short-demo plan totals 88.89 THB, including a 60 THB reserve. At 10,000 planned predictions, that is 8.89 THB per 1,000 before credits. The reported Azure cost is 0.00120350 USD for 841 observed valid profiles in the same query window. Billing and logs may lag. This is provisional, not the final invoice or proof of the budget cap.</a:t>
            </a:r>
          </a:p>
          <a:p>
            <a:r>
              <a:t>Source: reports/azure-cost-plan.json; cost-per-1000.json; docs/COST_REPORT.md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45 seconds.</a:t>
            </a:r>
          </a:p>
          <a:p>
            <a:r>
              <a:t>Our first priorities are the unmet latency target and complete cost reconciliation. Separate network time from application time before changing replicas or spending more. Recheck billing and usage after cleanup when the data has settled. Add live feature windows only when current data is available. Review segment labels and improve the dashboard. Save evidence and remove resources after the demo.</a:t>
            </a:r>
          </a:p>
          <a:p>
            <a:r>
              <a:t>Source: reports/finish-delivery.json; docs/DELIVERY_STATUS.md; docs/FINAL_STEPS.md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5 seconds.</a:t>
            </a:r>
          </a:p>
          <a:p>
            <a:r>
              <a:t>The dataset citation and course brief support the scope. Our measurements and operational claims come from the listed project reports. GitHub evidence requires repository access.</a:t>
            </a:r>
          </a:p>
          <a:p>
            <a:r>
              <a:t>Source: UCI dataset page; course brief; project reports and CI runs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seconds. Thank the audience. Open the API and evidence reports for the five-minute Q&amp;A.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DewPerawis/MLOP-PJ/actions/runs/38173375457"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hyperlink" Target="https://github.com/DewPerawis/MLOP-PJ/actions/runs/3817338080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24432/C5C31Q"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hyperlink" Target="https://github.com/DewPerawis/MLOP-PJ"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799358" y="3773503"/>
            <a:ext cx="5051790" cy="7861360"/>
          </a:xfrm>
          <a:custGeom>
            <a:avLst/>
            <a:gdLst/>
            <a:ahLst/>
            <a:cxnLst/>
            <a:rect l="l" t="t" r="r" b="b"/>
            <a:pathLst>
              <a:path w="5051790" h="7861360">
                <a:moveTo>
                  <a:pt x="0" y="0"/>
                </a:moveTo>
                <a:lnTo>
                  <a:pt x="5051790" y="0"/>
                </a:lnTo>
                <a:lnTo>
                  <a:pt x="5051790" y="7861360"/>
                </a:lnTo>
                <a:lnTo>
                  <a:pt x="0" y="78613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a:p>
        </p:txBody>
      </p:sp>
      <p:sp>
        <p:nvSpPr>
          <p:cNvPr id="3" name="Freeform 3"/>
          <p:cNvSpPr/>
          <p:nvPr/>
        </p:nvSpPr>
        <p:spPr>
          <a:xfrm flipH="1" flipV="1">
            <a:off x="-455035" y="-442015"/>
            <a:ext cx="3869203" cy="6021072"/>
          </a:xfrm>
          <a:custGeom>
            <a:avLst/>
            <a:gdLst/>
            <a:ahLst/>
            <a:cxnLst/>
            <a:rect l="l" t="t" r="r" b="b"/>
            <a:pathLst>
              <a:path w="3869203" h="6021072">
                <a:moveTo>
                  <a:pt x="3869203" y="6021072"/>
                </a:moveTo>
                <a:lnTo>
                  <a:pt x="0" y="6021072"/>
                </a:lnTo>
                <a:lnTo>
                  <a:pt x="0" y="0"/>
                </a:lnTo>
                <a:lnTo>
                  <a:pt x="3869203" y="0"/>
                </a:lnTo>
                <a:lnTo>
                  <a:pt x="3869203" y="6021072"/>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a:p>
        </p:txBody>
      </p:sp>
      <p:sp>
        <p:nvSpPr>
          <p:cNvPr id="4" name="Freeform 4"/>
          <p:cNvSpPr/>
          <p:nvPr/>
        </p:nvSpPr>
        <p:spPr>
          <a:xfrm>
            <a:off x="16525278" y="9130537"/>
            <a:ext cx="2617078" cy="2617078"/>
          </a:xfrm>
          <a:custGeom>
            <a:avLst/>
            <a:gdLst/>
            <a:ahLst/>
            <a:cxnLst/>
            <a:rect l="l" t="t" r="r" b="b"/>
            <a:pathLst>
              <a:path w="2617078" h="2617078">
                <a:moveTo>
                  <a:pt x="0" y="0"/>
                </a:moveTo>
                <a:lnTo>
                  <a:pt x="2617078" y="0"/>
                </a:lnTo>
                <a:lnTo>
                  <a:pt x="2617078" y="2617078"/>
                </a:lnTo>
                <a:lnTo>
                  <a:pt x="0" y="26170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a:p>
        </p:txBody>
      </p:sp>
      <p:sp>
        <p:nvSpPr>
          <p:cNvPr id="5" name="Freeform 5"/>
          <p:cNvSpPr/>
          <p:nvPr/>
        </p:nvSpPr>
        <p:spPr>
          <a:xfrm>
            <a:off x="-947307" y="-1541077"/>
            <a:ext cx="2617078" cy="2617078"/>
          </a:xfrm>
          <a:custGeom>
            <a:avLst/>
            <a:gdLst/>
            <a:ahLst/>
            <a:cxnLst/>
            <a:rect l="l" t="t" r="r" b="b"/>
            <a:pathLst>
              <a:path w="2617078" h="2617078">
                <a:moveTo>
                  <a:pt x="0" y="0"/>
                </a:moveTo>
                <a:lnTo>
                  <a:pt x="2617078" y="0"/>
                </a:lnTo>
                <a:lnTo>
                  <a:pt x="2617078" y="2617078"/>
                </a:lnTo>
                <a:lnTo>
                  <a:pt x="0" y="26170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a:p>
        </p:txBody>
      </p:sp>
      <p:sp>
        <p:nvSpPr>
          <p:cNvPr id="6" name="Freeform 6"/>
          <p:cNvSpPr/>
          <p:nvPr/>
        </p:nvSpPr>
        <p:spPr>
          <a:xfrm rot="-10800000">
            <a:off x="8427926" y="8112446"/>
            <a:ext cx="1432149" cy="473911"/>
          </a:xfrm>
          <a:custGeom>
            <a:avLst/>
            <a:gdLst/>
            <a:ahLst/>
            <a:cxnLst/>
            <a:rect l="l" t="t" r="r" b="b"/>
            <a:pathLst>
              <a:path w="1432149" h="473911">
                <a:moveTo>
                  <a:pt x="0" y="0"/>
                </a:moveTo>
                <a:lnTo>
                  <a:pt x="1432148" y="0"/>
                </a:lnTo>
                <a:lnTo>
                  <a:pt x="1432148" y="473911"/>
                </a:lnTo>
                <a:lnTo>
                  <a:pt x="0" y="47391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a:p>
        </p:txBody>
      </p:sp>
      <p:grpSp>
        <p:nvGrpSpPr>
          <p:cNvPr id="7" name="Group 7"/>
          <p:cNvGrpSpPr/>
          <p:nvPr/>
        </p:nvGrpSpPr>
        <p:grpSpPr>
          <a:xfrm>
            <a:off x="8357616" y="1371600"/>
            <a:ext cx="6393978" cy="1578597"/>
            <a:chOff x="0" y="0"/>
            <a:chExt cx="8525304" cy="2104797"/>
          </a:xfrm>
        </p:grpSpPr>
        <p:sp>
          <p:nvSpPr>
            <p:cNvPr id="8" name="Freeform 8"/>
            <p:cNvSpPr/>
            <p:nvPr/>
          </p:nvSpPr>
          <p:spPr>
            <a:xfrm>
              <a:off x="0" y="0"/>
              <a:ext cx="2097896" cy="2104797"/>
            </a:xfrm>
            <a:custGeom>
              <a:avLst/>
              <a:gdLst/>
              <a:ahLst/>
              <a:cxnLst/>
              <a:rect l="l" t="t" r="r" b="b"/>
              <a:pathLst>
                <a:path w="2097896" h="2104797">
                  <a:moveTo>
                    <a:pt x="0" y="0"/>
                  </a:moveTo>
                  <a:lnTo>
                    <a:pt x="2097896" y="0"/>
                  </a:lnTo>
                  <a:lnTo>
                    <a:pt x="2097896" y="2104797"/>
                  </a:lnTo>
                  <a:lnTo>
                    <a:pt x="0" y="2104797"/>
                  </a:lnTo>
                  <a:lnTo>
                    <a:pt x="0" y="0"/>
                  </a:lnTo>
                  <a:close/>
                </a:path>
              </a:pathLst>
            </a:custGeom>
            <a:blipFill>
              <a:blip r:embed="rId9"/>
              <a:stretch>
                <a:fillRect/>
              </a:stretch>
            </a:blipFill>
          </p:spPr>
        </p:sp>
      </p:grpSp>
      <p:sp>
        <p:nvSpPr>
          <p:cNvPr id="9" name="Project text"/>
          <p:cNvSpPr txBox="1"/>
          <p:nvPr/>
        </p:nvSpPr>
        <p:spPr>
          <a:xfrm>
            <a:off x="1005840" y="3794760"/>
            <a:ext cx="16276320" cy="2286000"/>
          </a:xfrm>
          <a:prstGeom prst="rect">
            <a:avLst/>
          </a:prstGeom>
          <a:noFill/>
        </p:spPr>
        <p:txBody>
          <a:bodyPr wrap="square" lIns="36576" tIns="27432" rIns="36576" bIns="27432">
            <a:spAutoFit/>
          </a:bodyPr>
          <a:lstStyle/>
          <a:p>
            <a:pPr algn="ctr">
              <a:lnSpc>
                <a:spcPct val="112000"/>
              </a:lnSpc>
              <a:spcAft>
                <a:spcPts val="900"/>
              </a:spcAft>
            </a:pPr>
            <a:r>
              <a:rPr sz="5800" b="0">
                <a:solidFill>
                  <a:srgbClr val="000000"/>
                </a:solidFill>
                <a:latin typeface="League Spartan"/>
              </a:rPr>
              <a:t>TRAVEL STYLE SEGMENTATION</a:t>
            </a:r>
          </a:p>
          <a:p>
            <a:pPr algn="ctr">
              <a:lnSpc>
                <a:spcPct val="112000"/>
              </a:lnSpc>
              <a:spcAft>
                <a:spcPts val="900"/>
              </a:spcAft>
            </a:pPr>
            <a:r>
              <a:rPr sz="5800" b="0">
                <a:solidFill>
                  <a:srgbClr val="000000"/>
                </a:solidFill>
                <a:latin typeface="League Spartan"/>
              </a:rPr>
              <a:t>&amp; DRIFT MONITORING</a:t>
            </a:r>
          </a:p>
        </p:txBody>
      </p:sp>
      <p:sp>
        <p:nvSpPr>
          <p:cNvPr id="10" name="Project text"/>
          <p:cNvSpPr txBox="1"/>
          <p:nvPr/>
        </p:nvSpPr>
        <p:spPr>
          <a:xfrm>
            <a:off x="2743200" y="6400800"/>
            <a:ext cx="12801600" cy="548640"/>
          </a:xfrm>
          <a:prstGeom prst="rect">
            <a:avLst/>
          </a:prstGeom>
          <a:noFill/>
        </p:spPr>
        <p:txBody>
          <a:bodyPr wrap="square" lIns="36576" tIns="27432" rIns="36576" bIns="27432">
            <a:spAutoFit/>
          </a:bodyPr>
          <a:lstStyle/>
          <a:p>
            <a:pPr algn="ctr">
              <a:lnSpc>
                <a:spcPct val="112000"/>
              </a:lnSpc>
              <a:spcAft>
                <a:spcPts val="900"/>
              </a:spcAft>
            </a:pPr>
            <a:r>
              <a:rPr sz="2800" b="0">
                <a:solidFill>
                  <a:srgbClr val="206783"/>
                </a:solidFill>
                <a:latin typeface="League Spartan"/>
              </a:rPr>
              <a:t>ITCS355 - Machine Learning Operations</a:t>
            </a:r>
          </a:p>
        </p:txBody>
      </p:sp>
      <p:sp>
        <p:nvSpPr>
          <p:cNvPr id="11" name="Project text"/>
          <p:cNvSpPr txBox="1"/>
          <p:nvPr/>
        </p:nvSpPr>
        <p:spPr>
          <a:xfrm>
            <a:off x="1371600" y="7178040"/>
            <a:ext cx="15544800" cy="365613"/>
          </a:xfrm>
          <a:prstGeom prst="rect">
            <a:avLst/>
          </a:prstGeom>
          <a:noFill/>
        </p:spPr>
        <p:txBody>
          <a:bodyPr wrap="square" lIns="36576" tIns="27432" rIns="36576" bIns="27432">
            <a:spAutoFit/>
          </a:bodyPr>
          <a:lstStyle/>
          <a:p>
            <a:pPr algn="ctr">
              <a:lnSpc>
                <a:spcPct val="112000"/>
              </a:lnSpc>
              <a:spcAft>
                <a:spcPts val="900"/>
              </a:spcAft>
            </a:pPr>
            <a:r>
              <a:rPr b="0" dirty="0" err="1">
                <a:solidFill>
                  <a:srgbClr val="555555"/>
                </a:solidFill>
                <a:latin typeface="League Spartan"/>
              </a:rPr>
              <a:t>Perawis</a:t>
            </a:r>
            <a:r>
              <a:rPr b="0" dirty="0">
                <a:solidFill>
                  <a:srgbClr val="555555"/>
                </a:solidFill>
                <a:latin typeface="League Spartan"/>
              </a:rPr>
              <a:t> </a:t>
            </a:r>
            <a:r>
              <a:rPr b="0" dirty="0" err="1">
                <a:solidFill>
                  <a:srgbClr val="555555"/>
                </a:solidFill>
                <a:latin typeface="League Spartan"/>
              </a:rPr>
              <a:t>Buranasing</a:t>
            </a:r>
            <a:r>
              <a:rPr b="0" dirty="0">
                <a:solidFill>
                  <a:srgbClr val="555555"/>
                </a:solidFill>
                <a:latin typeface="League Spartan"/>
              </a:rPr>
              <a:t> (6688012)</a:t>
            </a:r>
            <a:r>
              <a:rPr lang="en-US" b="0" dirty="0">
                <a:solidFill>
                  <a:srgbClr val="555555"/>
                </a:solidFill>
                <a:latin typeface="League Spartan"/>
              </a:rPr>
              <a:t> | </a:t>
            </a:r>
            <a:r>
              <a:rPr b="0" dirty="0" err="1">
                <a:solidFill>
                  <a:srgbClr val="555555"/>
                </a:solidFill>
                <a:latin typeface="League Spartan"/>
              </a:rPr>
              <a:t>Supitsara</a:t>
            </a:r>
            <a:r>
              <a:rPr b="0" dirty="0">
                <a:solidFill>
                  <a:srgbClr val="555555"/>
                </a:solidFill>
                <a:latin typeface="League Spartan"/>
              </a:rPr>
              <a:t> </a:t>
            </a:r>
            <a:r>
              <a:rPr b="0" dirty="0" err="1">
                <a:solidFill>
                  <a:srgbClr val="555555"/>
                </a:solidFill>
                <a:latin typeface="League Spartan"/>
              </a:rPr>
              <a:t>Tanasarnsukstid</a:t>
            </a:r>
            <a:r>
              <a:rPr b="0" dirty="0">
                <a:solidFill>
                  <a:srgbClr val="555555"/>
                </a:solidFill>
                <a:latin typeface="League Spartan"/>
              </a:rPr>
              <a:t> (6688121)  |  </a:t>
            </a:r>
            <a:r>
              <a:rPr b="0" dirty="0" err="1">
                <a:solidFill>
                  <a:srgbClr val="555555"/>
                </a:solidFill>
                <a:latin typeface="League Spartan"/>
              </a:rPr>
              <a:t>Atichat</a:t>
            </a:r>
            <a:r>
              <a:rPr b="0" dirty="0">
                <a:solidFill>
                  <a:srgbClr val="555555"/>
                </a:solidFill>
                <a:latin typeface="League Spartan"/>
              </a:rPr>
              <a:t> </a:t>
            </a:r>
            <a:r>
              <a:rPr b="0" dirty="0" err="1">
                <a:solidFill>
                  <a:srgbClr val="555555"/>
                </a:solidFill>
                <a:latin typeface="League Spartan"/>
              </a:rPr>
              <a:t>Kangsamut</a:t>
            </a:r>
            <a:r>
              <a:rPr b="0" dirty="0">
                <a:solidFill>
                  <a:srgbClr val="555555"/>
                </a:solidFill>
                <a:latin typeface="League Spartan"/>
              </a:rPr>
              <a:t> (6688193)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b="1">
                <a:solidFill>
                  <a:srgbClr val="FFDC51"/>
                </a:solidFill>
                <a:latin typeface="League Spartan"/>
                <a:ea typeface="League Spartan"/>
                <a:cs typeface="League Spartan"/>
                <a:sym typeface="League Spartan"/>
              </a:rPr>
              <a:t>ONE PROFILE,</a:t>
            </a:r>
          </a:p>
          <a:p>
            <a:pPr>
              <a:lnSpc>
                <a:spcPct val="102000"/>
              </a:lnSpc>
              <a:spcAft>
                <a:spcPts val="0"/>
              </a:spcAft>
            </a:pPr>
            <a:r>
              <a:rPr lang="en-US" sz="5000" b="1">
                <a:solidFill>
                  <a:srgbClr val="FFDC51"/>
                </a:solidFill>
                <a:latin typeface="League Spartan"/>
                <a:ea typeface="League Spartan"/>
                <a:cs typeface="League Spartan"/>
                <a:sym typeface="League Spartan"/>
              </a:rPr>
              <a:t>A SIMPLE TRAVEL SEGMENT</a:t>
            </a:r>
          </a:p>
        </p:txBody>
      </p:sp>
      <p:sp>
        <p:nvSpPr>
          <p:cNvPr id="8"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2</a:t>
            </a:r>
          </a:p>
        </p:txBody>
      </p:sp>
      <p:sp>
        <p:nvSpPr>
          <p:cNvPr id="9"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docs/MODEL_CARD.md; reports/bundle-manifest.json; UCI [1]</a:t>
            </a:r>
          </a:p>
        </p:txBody>
      </p:sp>
      <p:sp>
        <p:nvSpPr>
          <p:cNvPr id="10" name="Project text"/>
          <p:cNvSpPr txBox="1"/>
          <p:nvPr/>
        </p:nvSpPr>
        <p:spPr>
          <a:xfrm>
            <a:off x="1051560" y="3017520"/>
            <a:ext cx="15910559" cy="731520"/>
          </a:xfrm>
          <a:prstGeom prst="rect">
            <a:avLst/>
          </a:prstGeom>
          <a:noFill/>
        </p:spPr>
        <p:txBody>
          <a:bodyPr wrap="square" lIns="36576" tIns="27432" rIns="36576" bIns="27432">
            <a:spAutoFit/>
          </a:bodyPr>
          <a:lstStyle/>
          <a:p>
            <a:pPr algn="l">
              <a:lnSpc>
                <a:spcPct val="112000"/>
              </a:lnSpc>
              <a:spcAft>
                <a:spcPts val="900"/>
              </a:spcAft>
            </a:pPr>
            <a:r>
              <a:rPr sz="2900" b="0">
                <a:solidFill>
                  <a:srgbClr val="202329"/>
                </a:solidFill>
                <a:latin typeface="Poppins"/>
              </a:rPr>
              <a:t>A travel platform can use rating profiles to group similar interests.</a:t>
            </a:r>
          </a:p>
        </p:txBody>
      </p:sp>
      <p:sp>
        <p:nvSpPr>
          <p:cNvPr id="11" name="Project panel"/>
          <p:cNvSpPr/>
          <p:nvPr/>
        </p:nvSpPr>
        <p:spPr>
          <a:xfrm>
            <a:off x="1051560" y="4251960"/>
            <a:ext cx="4892040" cy="32918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roject text"/>
          <p:cNvSpPr txBox="1"/>
          <p:nvPr/>
        </p:nvSpPr>
        <p:spPr>
          <a:xfrm>
            <a:off x="1252728" y="4434840"/>
            <a:ext cx="4489703"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06783"/>
                </a:solidFill>
                <a:latin typeface="Poppins"/>
              </a:rPr>
              <a:t>INPUT</a:t>
            </a:r>
          </a:p>
        </p:txBody>
      </p:sp>
      <p:sp>
        <p:nvSpPr>
          <p:cNvPr id="13" name="Project text"/>
          <p:cNvSpPr txBox="1"/>
          <p:nvPr/>
        </p:nvSpPr>
        <p:spPr>
          <a:xfrm>
            <a:off x="1252728" y="5166360"/>
            <a:ext cx="4489703" cy="2240280"/>
          </a:xfrm>
          <a:prstGeom prst="rect">
            <a:avLst/>
          </a:prstGeom>
          <a:noFill/>
        </p:spPr>
        <p:txBody>
          <a:bodyPr wrap="square" lIns="36576" tIns="27432" rIns="36576" bIns="27432">
            <a:spAutoFit/>
          </a:bodyPr>
          <a:lstStyle/>
          <a:p>
            <a:pPr algn="l">
              <a:lnSpc>
                <a:spcPct val="112000"/>
              </a:lnSpc>
              <a:spcAft>
                <a:spcPts val="900"/>
              </a:spcAft>
            </a:pPr>
            <a:r>
              <a:rPr sz="2400" b="0">
                <a:solidFill>
                  <a:srgbClr val="202329"/>
                </a:solidFill>
                <a:latin typeface="Poppins"/>
              </a:rPr>
              <a:t>24 category ratings [1]</a:t>
            </a:r>
          </a:p>
          <a:p>
            <a:pPr algn="l">
              <a:lnSpc>
                <a:spcPct val="112000"/>
              </a:lnSpc>
              <a:spcAft>
                <a:spcPts val="900"/>
              </a:spcAft>
            </a:pPr>
            <a:r>
              <a:rPr sz="2400" b="0">
                <a:solidFill>
                  <a:srgbClr val="202329"/>
                </a:solidFill>
                <a:latin typeface="Poppins"/>
              </a:rPr>
              <a:t>Each value: 0-5</a:t>
            </a:r>
          </a:p>
        </p:txBody>
      </p:sp>
      <p:sp>
        <p:nvSpPr>
          <p:cNvPr id="14" name="Right Arrow 13"/>
          <p:cNvSpPr/>
          <p:nvPr/>
        </p:nvSpPr>
        <p:spPr>
          <a:xfrm>
            <a:off x="6126480" y="5577840"/>
            <a:ext cx="438912" cy="329184"/>
          </a:xfrm>
          <a:prstGeom prst="rightArrow">
            <a:avLst/>
          </a:prstGeom>
          <a:solidFill>
            <a:srgbClr val="2067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roject panel"/>
          <p:cNvSpPr/>
          <p:nvPr/>
        </p:nvSpPr>
        <p:spPr>
          <a:xfrm>
            <a:off x="6675120" y="4251960"/>
            <a:ext cx="4892040" cy="32918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roject text"/>
          <p:cNvSpPr txBox="1"/>
          <p:nvPr/>
        </p:nvSpPr>
        <p:spPr>
          <a:xfrm>
            <a:off x="6876288" y="4434840"/>
            <a:ext cx="4489703"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030F7D"/>
                </a:solidFill>
                <a:latin typeface="Poppins"/>
              </a:rPr>
              <a:t>MODEL</a:t>
            </a:r>
          </a:p>
        </p:txBody>
      </p:sp>
      <p:sp>
        <p:nvSpPr>
          <p:cNvPr id="17" name="Project text"/>
          <p:cNvSpPr txBox="1"/>
          <p:nvPr/>
        </p:nvSpPr>
        <p:spPr>
          <a:xfrm>
            <a:off x="6876288" y="5166360"/>
            <a:ext cx="4489703" cy="2240280"/>
          </a:xfrm>
          <a:prstGeom prst="rect">
            <a:avLst/>
          </a:prstGeom>
          <a:noFill/>
        </p:spPr>
        <p:txBody>
          <a:bodyPr wrap="square" lIns="36576" tIns="27432" rIns="36576" bIns="27432">
            <a:spAutoFit/>
          </a:bodyPr>
          <a:lstStyle/>
          <a:p>
            <a:pPr algn="l">
              <a:lnSpc>
                <a:spcPct val="112000"/>
              </a:lnSpc>
              <a:spcAft>
                <a:spcPts val="900"/>
              </a:spcAft>
            </a:pPr>
            <a:r>
              <a:rPr sz="2400" b="0">
                <a:solidFill>
                  <a:srgbClr val="202329"/>
                </a:solidFill>
                <a:latin typeface="Poppins"/>
              </a:rPr>
              <a:t>K-Means, k=5</a:t>
            </a:r>
          </a:p>
          <a:p>
            <a:pPr algn="l">
              <a:lnSpc>
                <a:spcPct val="112000"/>
              </a:lnSpc>
              <a:spcAft>
                <a:spcPts val="900"/>
              </a:spcAft>
            </a:pPr>
            <a:r>
              <a:rPr sz="2400" b="0">
                <a:solidFill>
                  <a:srgbClr val="202329"/>
                </a:solidFill>
                <a:latin typeface="Poppins"/>
              </a:rPr>
              <a:t>Shared preprocessing</a:t>
            </a:r>
          </a:p>
        </p:txBody>
      </p:sp>
      <p:sp>
        <p:nvSpPr>
          <p:cNvPr id="18" name="Right Arrow 17"/>
          <p:cNvSpPr/>
          <p:nvPr/>
        </p:nvSpPr>
        <p:spPr>
          <a:xfrm>
            <a:off x="11750040" y="5577840"/>
            <a:ext cx="438912" cy="329184"/>
          </a:xfrm>
          <a:prstGeom prst="rightArrow">
            <a:avLst/>
          </a:prstGeom>
          <a:solidFill>
            <a:srgbClr val="2067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roject panel"/>
          <p:cNvSpPr/>
          <p:nvPr/>
        </p:nvSpPr>
        <p:spPr>
          <a:xfrm>
            <a:off x="12298680" y="4251960"/>
            <a:ext cx="4892040" cy="32918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Project text"/>
          <p:cNvSpPr txBox="1"/>
          <p:nvPr/>
        </p:nvSpPr>
        <p:spPr>
          <a:xfrm>
            <a:off x="12499848" y="4434840"/>
            <a:ext cx="4489703"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96527E"/>
                </a:solidFill>
                <a:latin typeface="Poppins"/>
              </a:rPr>
              <a:t>OUTPUT</a:t>
            </a:r>
          </a:p>
        </p:txBody>
      </p:sp>
      <p:sp>
        <p:nvSpPr>
          <p:cNvPr id="21" name="Project text"/>
          <p:cNvSpPr txBox="1"/>
          <p:nvPr/>
        </p:nvSpPr>
        <p:spPr>
          <a:xfrm>
            <a:off x="12499848" y="5166360"/>
            <a:ext cx="4489703" cy="2240280"/>
          </a:xfrm>
          <a:prstGeom prst="rect">
            <a:avLst/>
          </a:prstGeom>
          <a:noFill/>
        </p:spPr>
        <p:txBody>
          <a:bodyPr wrap="square" lIns="36576" tIns="27432" rIns="36576" bIns="27432">
            <a:spAutoFit/>
          </a:bodyPr>
          <a:lstStyle/>
          <a:p>
            <a:pPr algn="l">
              <a:lnSpc>
                <a:spcPct val="112000"/>
              </a:lnSpc>
              <a:spcAft>
                <a:spcPts val="900"/>
              </a:spcAft>
            </a:pPr>
            <a:r>
              <a:rPr sz="2400" b="0">
                <a:solidFill>
                  <a:srgbClr val="202329"/>
                </a:solidFill>
                <a:latin typeface="Poppins"/>
              </a:rPr>
              <a:t>Segment + distance</a:t>
            </a:r>
          </a:p>
          <a:p>
            <a:pPr algn="l">
              <a:lnSpc>
                <a:spcPct val="112000"/>
              </a:lnSpc>
              <a:spcAft>
                <a:spcPts val="900"/>
              </a:spcAft>
            </a:pPr>
            <a:r>
              <a:rPr sz="2400" b="0">
                <a:solidFill>
                  <a:srgbClr val="202329"/>
                </a:solidFill>
                <a:latin typeface="Poppins"/>
              </a:rPr>
              <a:t>Uncertainty + version</a:t>
            </a:r>
          </a:p>
        </p:txBody>
      </p:sp>
      <p:sp>
        <p:nvSpPr>
          <p:cNvPr id="22" name="Project text"/>
          <p:cNvSpPr txBox="1"/>
          <p:nvPr/>
        </p:nvSpPr>
        <p:spPr>
          <a:xfrm>
            <a:off x="1097280" y="8229600"/>
            <a:ext cx="16002000" cy="731520"/>
          </a:xfrm>
          <a:prstGeom prst="rect">
            <a:avLst/>
          </a:prstGeom>
          <a:noFill/>
        </p:spPr>
        <p:txBody>
          <a:bodyPr wrap="square" lIns="36576" tIns="27432" rIns="36576" bIns="27432">
            <a:spAutoFit/>
          </a:bodyPr>
          <a:lstStyle/>
          <a:p>
            <a:pPr algn="l">
              <a:lnSpc>
                <a:spcPct val="112000"/>
              </a:lnSpc>
              <a:spcAft>
                <a:spcPts val="900"/>
              </a:spcAft>
            </a:pPr>
            <a:r>
              <a:rPr sz="2500" b="0">
                <a:solidFill>
                  <a:srgbClr val="647080"/>
                </a:solidFill>
                <a:latin typeface="Poppins"/>
              </a:rPr>
              <a:t>Segment names are provisional. This is a preference tool, not a personality test.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83021"/>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b="1">
                <a:solidFill>
                  <a:srgbClr val="FFDC51"/>
                </a:solidFill>
                <a:latin typeface="League Spartan"/>
                <a:ea typeface="League Spartan"/>
                <a:cs typeface="League Spartan"/>
                <a:sym typeface="League Spartan"/>
              </a:rPr>
              <a:t>FROM VERSIONED DATA</a:t>
            </a:r>
          </a:p>
          <a:p>
            <a:pPr>
              <a:lnSpc>
                <a:spcPct val="102000"/>
              </a:lnSpc>
              <a:spcAft>
                <a:spcPts val="0"/>
              </a:spcAft>
            </a:pPr>
            <a:r>
              <a:rPr lang="en-US" sz="5000" b="1">
                <a:solidFill>
                  <a:srgbClr val="FFDC51"/>
                </a:solidFill>
                <a:latin typeface="League Spartan"/>
                <a:ea typeface="League Spartan"/>
                <a:cs typeface="League Spartan"/>
                <a:sym typeface="League Spartan"/>
              </a:rPr>
              <a:t>TO A MONITORED API</a:t>
            </a:r>
          </a:p>
        </p:txBody>
      </p:sp>
      <p:sp>
        <p:nvSpPr>
          <p:cNvPr id="11"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3</a:t>
            </a:r>
          </a:p>
        </p:txBody>
      </p:sp>
      <p:sp>
        <p:nvSpPr>
          <p:cNvPr id="12"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README.md; docs/reference/course/project/project-brief.md [2]</a:t>
            </a:r>
          </a:p>
        </p:txBody>
      </p:sp>
      <p:sp>
        <p:nvSpPr>
          <p:cNvPr id="13" name="Project panel"/>
          <p:cNvSpPr/>
          <p:nvPr/>
        </p:nvSpPr>
        <p:spPr>
          <a:xfrm>
            <a:off x="1051560" y="3337560"/>
            <a:ext cx="2971800" cy="26060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roject text"/>
          <p:cNvSpPr txBox="1"/>
          <p:nvPr/>
        </p:nvSpPr>
        <p:spPr>
          <a:xfrm>
            <a:off x="1252728" y="3520440"/>
            <a:ext cx="25694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06783"/>
                </a:solidFill>
                <a:latin typeface="Poppins"/>
              </a:rPr>
              <a:t>DATA</a:t>
            </a:r>
          </a:p>
        </p:txBody>
      </p:sp>
      <p:sp>
        <p:nvSpPr>
          <p:cNvPr id="15" name="Project text"/>
          <p:cNvSpPr txBox="1"/>
          <p:nvPr/>
        </p:nvSpPr>
        <p:spPr>
          <a:xfrm>
            <a:off x="1252728" y="4251960"/>
            <a:ext cx="2569464" cy="1554480"/>
          </a:xfrm>
          <a:prstGeom prst="rect">
            <a:avLst/>
          </a:prstGeom>
          <a:noFill/>
        </p:spPr>
        <p:txBody>
          <a:bodyPr wrap="square" lIns="36576" tIns="27432" rIns="36576" bIns="27432">
            <a:spAutoFit/>
          </a:bodyPr>
          <a:lstStyle/>
          <a:p>
            <a:pPr algn="l">
              <a:lnSpc>
                <a:spcPct val="112000"/>
              </a:lnSpc>
              <a:spcAft>
                <a:spcPts val="900"/>
              </a:spcAft>
            </a:pPr>
            <a:r>
              <a:rPr sz="2100" b="0">
                <a:solidFill>
                  <a:srgbClr val="202329"/>
                </a:solidFill>
                <a:latin typeface="Poppins"/>
              </a:rPr>
              <a:t>Git + DVC</a:t>
            </a:r>
          </a:p>
          <a:p>
            <a:pPr algn="l">
              <a:lnSpc>
                <a:spcPct val="112000"/>
              </a:lnSpc>
              <a:spcAft>
                <a:spcPts val="900"/>
              </a:spcAft>
            </a:pPr>
            <a:r>
              <a:rPr sz="2100" b="0">
                <a:solidFill>
                  <a:srgbClr val="202329"/>
                </a:solidFill>
                <a:latin typeface="Poppins"/>
              </a:rPr>
              <a:t>Azure Blob</a:t>
            </a:r>
          </a:p>
        </p:txBody>
      </p:sp>
      <p:sp>
        <p:nvSpPr>
          <p:cNvPr id="16" name="Right Arrow 15"/>
          <p:cNvSpPr/>
          <p:nvPr/>
        </p:nvSpPr>
        <p:spPr>
          <a:xfrm>
            <a:off x="4059935" y="4389120"/>
            <a:ext cx="228600" cy="274320"/>
          </a:xfrm>
          <a:prstGeom prst="rightArrow">
            <a:avLst/>
          </a:prstGeom>
          <a:solidFill>
            <a:srgbClr val="2067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Project panel"/>
          <p:cNvSpPr/>
          <p:nvPr/>
        </p:nvSpPr>
        <p:spPr>
          <a:xfrm>
            <a:off x="4315968" y="3337560"/>
            <a:ext cx="2971800" cy="26060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roject text"/>
          <p:cNvSpPr txBox="1"/>
          <p:nvPr/>
        </p:nvSpPr>
        <p:spPr>
          <a:xfrm>
            <a:off x="4517136" y="3520440"/>
            <a:ext cx="25694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030F7D"/>
                </a:solidFill>
                <a:latin typeface="Poppins"/>
              </a:rPr>
              <a:t>TRAIN</a:t>
            </a:r>
          </a:p>
        </p:txBody>
      </p:sp>
      <p:sp>
        <p:nvSpPr>
          <p:cNvPr id="19" name="Project text"/>
          <p:cNvSpPr txBox="1"/>
          <p:nvPr/>
        </p:nvSpPr>
        <p:spPr>
          <a:xfrm>
            <a:off x="4517136" y="4251960"/>
            <a:ext cx="2569464" cy="1554480"/>
          </a:xfrm>
          <a:prstGeom prst="rect">
            <a:avLst/>
          </a:prstGeom>
          <a:noFill/>
        </p:spPr>
        <p:txBody>
          <a:bodyPr wrap="square" lIns="36576" tIns="27432" rIns="36576" bIns="27432">
            <a:spAutoFit/>
          </a:bodyPr>
          <a:lstStyle/>
          <a:p>
            <a:pPr algn="l">
              <a:lnSpc>
                <a:spcPct val="112000"/>
              </a:lnSpc>
              <a:spcAft>
                <a:spcPts val="900"/>
              </a:spcAft>
            </a:pPr>
            <a:r>
              <a:rPr sz="2100" b="0">
                <a:solidFill>
                  <a:srgbClr val="202329"/>
                </a:solidFill>
                <a:latin typeface="Poppins"/>
              </a:rPr>
              <a:t>Azure ML</a:t>
            </a:r>
          </a:p>
          <a:p>
            <a:pPr algn="l">
              <a:lnSpc>
                <a:spcPct val="112000"/>
              </a:lnSpc>
              <a:spcAft>
                <a:spcPts val="900"/>
              </a:spcAft>
            </a:pPr>
            <a:r>
              <a:rPr sz="2100" b="0">
                <a:solidFill>
                  <a:srgbClr val="202329"/>
                </a:solidFill>
                <a:latin typeface="Poppins"/>
              </a:rPr>
              <a:t>MLflow</a:t>
            </a:r>
          </a:p>
        </p:txBody>
      </p:sp>
      <p:sp>
        <p:nvSpPr>
          <p:cNvPr id="20" name="Right Arrow 19"/>
          <p:cNvSpPr/>
          <p:nvPr/>
        </p:nvSpPr>
        <p:spPr>
          <a:xfrm>
            <a:off x="7324344" y="4389120"/>
            <a:ext cx="228600" cy="274320"/>
          </a:xfrm>
          <a:prstGeom prst="rightArrow">
            <a:avLst/>
          </a:prstGeom>
          <a:solidFill>
            <a:srgbClr val="2067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Project panel"/>
          <p:cNvSpPr/>
          <p:nvPr/>
        </p:nvSpPr>
        <p:spPr>
          <a:xfrm>
            <a:off x="7580375" y="3337560"/>
            <a:ext cx="2971800" cy="26060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roject text"/>
          <p:cNvSpPr txBox="1"/>
          <p:nvPr/>
        </p:nvSpPr>
        <p:spPr>
          <a:xfrm>
            <a:off x="7781544" y="3520440"/>
            <a:ext cx="25694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06783"/>
                </a:solidFill>
                <a:latin typeface="Poppins"/>
              </a:rPr>
              <a:t>REGISTER</a:t>
            </a:r>
          </a:p>
        </p:txBody>
      </p:sp>
      <p:sp>
        <p:nvSpPr>
          <p:cNvPr id="23" name="Project text"/>
          <p:cNvSpPr txBox="1"/>
          <p:nvPr/>
        </p:nvSpPr>
        <p:spPr>
          <a:xfrm>
            <a:off x="7781544" y="4251960"/>
            <a:ext cx="2569464" cy="1554480"/>
          </a:xfrm>
          <a:prstGeom prst="rect">
            <a:avLst/>
          </a:prstGeom>
          <a:noFill/>
        </p:spPr>
        <p:txBody>
          <a:bodyPr wrap="square" lIns="36576" tIns="27432" rIns="36576" bIns="27432">
            <a:spAutoFit/>
          </a:bodyPr>
          <a:lstStyle/>
          <a:p>
            <a:pPr algn="l">
              <a:lnSpc>
                <a:spcPct val="112000"/>
              </a:lnSpc>
              <a:spcAft>
                <a:spcPts val="900"/>
              </a:spcAft>
            </a:pPr>
            <a:r>
              <a:rPr sz="2100" b="0">
                <a:solidFill>
                  <a:srgbClr val="202329"/>
                </a:solidFill>
                <a:latin typeface="Poppins"/>
              </a:rPr>
              <a:t>Model version</a:t>
            </a:r>
          </a:p>
          <a:p>
            <a:pPr algn="l">
              <a:lnSpc>
                <a:spcPct val="112000"/>
              </a:lnSpc>
              <a:spcAft>
                <a:spcPts val="900"/>
              </a:spcAft>
            </a:pPr>
            <a:r>
              <a:rPr sz="2100" b="0">
                <a:solidFill>
                  <a:srgbClr val="202329"/>
                </a:solidFill>
                <a:latin typeface="Poppins"/>
              </a:rPr>
              <a:t>Bundle hash</a:t>
            </a:r>
          </a:p>
        </p:txBody>
      </p:sp>
      <p:sp>
        <p:nvSpPr>
          <p:cNvPr id="24" name="Right Arrow 23"/>
          <p:cNvSpPr/>
          <p:nvPr/>
        </p:nvSpPr>
        <p:spPr>
          <a:xfrm>
            <a:off x="10588751" y="4389120"/>
            <a:ext cx="228600" cy="274320"/>
          </a:xfrm>
          <a:prstGeom prst="rightArrow">
            <a:avLst/>
          </a:prstGeom>
          <a:solidFill>
            <a:srgbClr val="2067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Project panel"/>
          <p:cNvSpPr/>
          <p:nvPr/>
        </p:nvSpPr>
        <p:spPr>
          <a:xfrm>
            <a:off x="10844784" y="3337560"/>
            <a:ext cx="2971800" cy="26060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Project text"/>
          <p:cNvSpPr txBox="1"/>
          <p:nvPr/>
        </p:nvSpPr>
        <p:spPr>
          <a:xfrm>
            <a:off x="11045952" y="3520440"/>
            <a:ext cx="25694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030F7D"/>
                </a:solidFill>
                <a:latin typeface="Poppins"/>
              </a:rPr>
              <a:t>SHIP</a:t>
            </a:r>
          </a:p>
        </p:txBody>
      </p:sp>
      <p:sp>
        <p:nvSpPr>
          <p:cNvPr id="27" name="Project text"/>
          <p:cNvSpPr txBox="1"/>
          <p:nvPr/>
        </p:nvSpPr>
        <p:spPr>
          <a:xfrm>
            <a:off x="11045952" y="4251960"/>
            <a:ext cx="2569464" cy="1554480"/>
          </a:xfrm>
          <a:prstGeom prst="rect">
            <a:avLst/>
          </a:prstGeom>
          <a:noFill/>
        </p:spPr>
        <p:txBody>
          <a:bodyPr wrap="square" lIns="36576" tIns="27432" rIns="36576" bIns="27432">
            <a:spAutoFit/>
          </a:bodyPr>
          <a:lstStyle/>
          <a:p>
            <a:pPr algn="l">
              <a:lnSpc>
                <a:spcPct val="112000"/>
              </a:lnSpc>
              <a:spcAft>
                <a:spcPts val="900"/>
              </a:spcAft>
            </a:pPr>
            <a:r>
              <a:rPr sz="2100" b="0">
                <a:solidFill>
                  <a:srgbClr val="202329"/>
                </a:solidFill>
                <a:latin typeface="Poppins"/>
              </a:rPr>
              <a:t>Actions</a:t>
            </a:r>
          </a:p>
          <a:p>
            <a:pPr algn="l">
              <a:lnSpc>
                <a:spcPct val="112000"/>
              </a:lnSpc>
              <a:spcAft>
                <a:spcPts val="900"/>
              </a:spcAft>
            </a:pPr>
            <a:r>
              <a:rPr sz="2100" b="0">
                <a:solidFill>
                  <a:srgbClr val="202329"/>
                </a:solidFill>
                <a:latin typeface="Poppins"/>
              </a:rPr>
              <a:t>ACR image</a:t>
            </a:r>
          </a:p>
        </p:txBody>
      </p:sp>
      <p:sp>
        <p:nvSpPr>
          <p:cNvPr id="28" name="Right Arrow 27"/>
          <p:cNvSpPr/>
          <p:nvPr/>
        </p:nvSpPr>
        <p:spPr>
          <a:xfrm>
            <a:off x="13853159" y="4389120"/>
            <a:ext cx="228600" cy="274320"/>
          </a:xfrm>
          <a:prstGeom prst="rightArrow">
            <a:avLst/>
          </a:prstGeom>
          <a:solidFill>
            <a:srgbClr val="2067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Project panel"/>
          <p:cNvSpPr/>
          <p:nvPr/>
        </p:nvSpPr>
        <p:spPr>
          <a:xfrm>
            <a:off x="14109192" y="3337560"/>
            <a:ext cx="2971800" cy="26060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Project text"/>
          <p:cNvSpPr txBox="1"/>
          <p:nvPr/>
        </p:nvSpPr>
        <p:spPr>
          <a:xfrm>
            <a:off x="14310360" y="3520440"/>
            <a:ext cx="25694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06783"/>
                </a:solidFill>
                <a:latin typeface="Poppins"/>
              </a:rPr>
              <a:t>SERVE</a:t>
            </a:r>
          </a:p>
        </p:txBody>
      </p:sp>
      <p:sp>
        <p:nvSpPr>
          <p:cNvPr id="31" name="Project text"/>
          <p:cNvSpPr txBox="1"/>
          <p:nvPr/>
        </p:nvSpPr>
        <p:spPr>
          <a:xfrm>
            <a:off x="14310360" y="4251960"/>
            <a:ext cx="2569464" cy="1554480"/>
          </a:xfrm>
          <a:prstGeom prst="rect">
            <a:avLst/>
          </a:prstGeom>
          <a:noFill/>
        </p:spPr>
        <p:txBody>
          <a:bodyPr wrap="square" lIns="36576" tIns="27432" rIns="36576" bIns="27432">
            <a:spAutoFit/>
          </a:bodyPr>
          <a:lstStyle/>
          <a:p>
            <a:pPr algn="l">
              <a:lnSpc>
                <a:spcPct val="112000"/>
              </a:lnSpc>
              <a:spcAft>
                <a:spcPts val="900"/>
              </a:spcAft>
            </a:pPr>
            <a:r>
              <a:rPr sz="2100" b="0">
                <a:solidFill>
                  <a:srgbClr val="202329"/>
                </a:solidFill>
                <a:latin typeface="Poppins"/>
              </a:rPr>
              <a:t>FastAPI</a:t>
            </a:r>
          </a:p>
          <a:p>
            <a:pPr algn="l">
              <a:lnSpc>
                <a:spcPct val="112000"/>
              </a:lnSpc>
              <a:spcAft>
                <a:spcPts val="900"/>
              </a:spcAft>
            </a:pPr>
            <a:r>
              <a:rPr sz="2100" b="0">
                <a:solidFill>
                  <a:srgbClr val="202329"/>
                </a:solidFill>
                <a:latin typeface="Poppins"/>
              </a:rPr>
              <a:t>Container Apps</a:t>
            </a:r>
          </a:p>
        </p:txBody>
      </p:sp>
      <p:sp>
        <p:nvSpPr>
          <p:cNvPr id="32" name="Project panel"/>
          <p:cNvSpPr/>
          <p:nvPr/>
        </p:nvSpPr>
        <p:spPr>
          <a:xfrm>
            <a:off x="8778240" y="6583680"/>
            <a:ext cx="8138160" cy="21488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Project text"/>
          <p:cNvSpPr txBox="1"/>
          <p:nvPr/>
        </p:nvSpPr>
        <p:spPr>
          <a:xfrm>
            <a:off x="8979408" y="6766560"/>
            <a:ext cx="773582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96527E"/>
                </a:solidFill>
                <a:latin typeface="Poppins"/>
              </a:rPr>
              <a:t>OBSERVE</a:t>
            </a:r>
          </a:p>
        </p:txBody>
      </p:sp>
      <p:sp>
        <p:nvSpPr>
          <p:cNvPr id="34" name="Project text"/>
          <p:cNvSpPr txBox="1"/>
          <p:nvPr/>
        </p:nvSpPr>
        <p:spPr>
          <a:xfrm>
            <a:off x="8979408" y="7498079"/>
            <a:ext cx="7735824" cy="1097280"/>
          </a:xfrm>
          <a:prstGeom prst="rect">
            <a:avLst/>
          </a:prstGeom>
          <a:noFill/>
        </p:spPr>
        <p:txBody>
          <a:bodyPr wrap="square" lIns="36576" tIns="27432" rIns="36576" bIns="27432">
            <a:spAutoFit/>
          </a:bodyPr>
          <a:lstStyle/>
          <a:p>
            <a:pPr algn="l">
              <a:lnSpc>
                <a:spcPct val="112000"/>
              </a:lnSpc>
              <a:spcAft>
                <a:spcPts val="900"/>
              </a:spcAft>
            </a:pPr>
            <a:r>
              <a:rPr sz="2200" b="0">
                <a:solidFill>
                  <a:srgbClr val="202329"/>
                </a:solidFill>
                <a:latin typeface="Poppins"/>
              </a:rPr>
              <a:t>Azure Monitor + Log Analytics</a:t>
            </a:r>
          </a:p>
          <a:p>
            <a:pPr algn="l">
              <a:lnSpc>
                <a:spcPct val="112000"/>
              </a:lnSpc>
              <a:spcAft>
                <a:spcPts val="900"/>
              </a:spcAft>
            </a:pPr>
            <a:r>
              <a:rPr sz="2200" b="0">
                <a:solidFill>
                  <a:srgbClr val="202329"/>
                </a:solidFill>
                <a:latin typeface="Poppins"/>
              </a:rPr>
              <a:t>Dashboard, semantic alert, model version</a:t>
            </a:r>
          </a:p>
        </p:txBody>
      </p:sp>
      <p:sp>
        <p:nvSpPr>
          <p:cNvPr id="35" name="Down Arrow 34"/>
          <p:cNvSpPr/>
          <p:nvPr/>
        </p:nvSpPr>
        <p:spPr>
          <a:xfrm>
            <a:off x="15544800" y="6062472"/>
            <a:ext cx="320040" cy="393192"/>
          </a:xfrm>
          <a:prstGeom prst="downArrow">
            <a:avLst/>
          </a:prstGeom>
          <a:solidFill>
            <a:srgbClr val="2067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Project text"/>
          <p:cNvSpPr txBox="1"/>
          <p:nvPr/>
        </p:nvSpPr>
        <p:spPr>
          <a:xfrm>
            <a:off x="1188720" y="6858000"/>
            <a:ext cx="7223760" cy="1371600"/>
          </a:xfrm>
          <a:prstGeom prst="rect">
            <a:avLst/>
          </a:prstGeom>
          <a:noFill/>
        </p:spPr>
        <p:txBody>
          <a:bodyPr wrap="square" lIns="36576" tIns="27432" rIns="36576" bIns="27432">
            <a:spAutoFit/>
          </a:bodyPr>
          <a:lstStyle/>
          <a:p>
            <a:pPr algn="l">
              <a:lnSpc>
                <a:spcPct val="112000"/>
              </a:lnSpc>
              <a:spcAft>
                <a:spcPts val="900"/>
              </a:spcAft>
            </a:pPr>
            <a:r>
              <a:rPr sz="2600" b="0">
                <a:solidFill>
                  <a:srgbClr val="202329"/>
                </a:solidFill>
                <a:latin typeface="Poppins"/>
              </a:rPr>
              <a:t>Tests gate deployment.</a:t>
            </a:r>
          </a:p>
          <a:p>
            <a:pPr algn="l">
              <a:lnSpc>
                <a:spcPct val="112000"/>
              </a:lnSpc>
              <a:spcAft>
                <a:spcPts val="900"/>
              </a:spcAft>
            </a:pPr>
            <a:r>
              <a:rPr sz="2600" b="0">
                <a:solidFill>
                  <a:srgbClr val="202329"/>
                </a:solidFill>
                <a:latin typeface="Poppins"/>
              </a:rPr>
              <a:t>Failure checks feed back into tests.</a:t>
            </a:r>
          </a:p>
        </p:txBody>
      </p:sp>
      <p:sp>
        <p:nvSpPr>
          <p:cNvPr id="37" name="Project text"/>
          <p:cNvSpPr txBox="1"/>
          <p:nvPr/>
        </p:nvSpPr>
        <p:spPr>
          <a:xfrm>
            <a:off x="1188720" y="8823960"/>
            <a:ext cx="15361920" cy="411480"/>
          </a:xfrm>
          <a:prstGeom prst="rect">
            <a:avLst/>
          </a:prstGeom>
          <a:noFill/>
        </p:spPr>
        <p:txBody>
          <a:bodyPr wrap="square" lIns="36576" tIns="27432" rIns="36576" bIns="27432">
            <a:spAutoFit/>
          </a:bodyPr>
          <a:lstStyle/>
          <a:p>
            <a:pPr algn="l">
              <a:lnSpc>
                <a:spcPct val="112000"/>
              </a:lnSpc>
              <a:spcAft>
                <a:spcPts val="900"/>
              </a:spcAft>
            </a:pPr>
            <a:r>
              <a:rPr sz="2000" b="0">
                <a:solidFill>
                  <a:srgbClr val="647080"/>
                </a:solidFill>
                <a:latin typeface="Poppins"/>
              </a:rPr>
              <a:t>Azure region: centralindia  |  Provider code: cloudlayer/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9" name="TextBox 9"/>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a:solidFill>
                  <a:srgbClr val="FFDC51"/>
                </a:solidFill>
                <a:latin typeface="League Spartan"/>
                <a:ea typeface="League Spartan"/>
                <a:cs typeface="League Spartan"/>
                <a:sym typeface="League Spartan"/>
              </a:rPr>
              <a:t>ONE VERSIONED DATASET,</a:t>
            </a:r>
          </a:p>
          <a:p>
            <a:pPr>
              <a:lnSpc>
                <a:spcPct val="102000"/>
              </a:lnSpc>
              <a:spcAft>
                <a:spcPts val="0"/>
              </a:spcAft>
            </a:pPr>
            <a:r>
              <a:rPr lang="en-US" sz="5000">
                <a:solidFill>
                  <a:srgbClr val="FFDC51"/>
                </a:solidFill>
                <a:latin typeface="League Spartan"/>
                <a:ea typeface="League Spartan"/>
                <a:cs typeface="League Spartan"/>
                <a:sym typeface="League Spartan"/>
              </a:rPr>
              <a:t>ONE REPEATABLE PIPELINE</a:t>
            </a:r>
          </a:p>
        </p:txBody>
      </p:sp>
      <p:sp>
        <p:nvSpPr>
          <p:cNvPr id="10"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4</a:t>
            </a:r>
          </a:p>
        </p:txBody>
      </p:sp>
      <p:sp>
        <p:nvSpPr>
          <p:cNvPr id="11"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reports/data-audit.json; prepared-data.json; selection.json; UCI [1]</a:t>
            </a:r>
          </a:p>
        </p:txBody>
      </p:sp>
      <p:sp>
        <p:nvSpPr>
          <p:cNvPr id="12" name="Project text"/>
          <p:cNvSpPr txBox="1"/>
          <p:nvPr/>
        </p:nvSpPr>
        <p:spPr>
          <a:xfrm>
            <a:off x="1097280" y="3200400"/>
            <a:ext cx="4846320" cy="822960"/>
          </a:xfrm>
          <a:prstGeom prst="rect">
            <a:avLst/>
          </a:prstGeom>
          <a:noFill/>
        </p:spPr>
        <p:txBody>
          <a:bodyPr wrap="square" lIns="36576" tIns="27432" rIns="36576" bIns="27432">
            <a:spAutoFit/>
          </a:bodyPr>
          <a:lstStyle/>
          <a:p>
            <a:pPr algn="ctr">
              <a:lnSpc>
                <a:spcPct val="112000"/>
              </a:lnSpc>
              <a:spcAft>
                <a:spcPts val="900"/>
              </a:spcAft>
            </a:pPr>
            <a:r>
              <a:rPr sz="5200" b="1">
                <a:solidFill>
                  <a:srgbClr val="206783"/>
                </a:solidFill>
                <a:latin typeface="Poppins"/>
              </a:rPr>
              <a:t>5,456</a:t>
            </a:r>
          </a:p>
        </p:txBody>
      </p:sp>
      <p:sp>
        <p:nvSpPr>
          <p:cNvPr id="13" name="Project text"/>
          <p:cNvSpPr txBox="1"/>
          <p:nvPr/>
        </p:nvSpPr>
        <p:spPr>
          <a:xfrm>
            <a:off x="1097280" y="4096512"/>
            <a:ext cx="4846320" cy="548640"/>
          </a:xfrm>
          <a:prstGeom prst="rect">
            <a:avLst/>
          </a:prstGeom>
          <a:noFill/>
        </p:spPr>
        <p:txBody>
          <a:bodyPr wrap="square" lIns="36576" tIns="27432" rIns="36576" bIns="27432">
            <a:spAutoFit/>
          </a:bodyPr>
          <a:lstStyle/>
          <a:p>
            <a:pPr algn="ctr">
              <a:lnSpc>
                <a:spcPct val="112000"/>
              </a:lnSpc>
              <a:spcAft>
                <a:spcPts val="900"/>
              </a:spcAft>
            </a:pPr>
            <a:r>
              <a:rPr sz="2500" b="0">
                <a:solidFill>
                  <a:srgbClr val="202329"/>
                </a:solidFill>
                <a:latin typeface="Poppins"/>
              </a:rPr>
              <a:t>Raw rows</a:t>
            </a:r>
          </a:p>
        </p:txBody>
      </p:sp>
      <p:sp>
        <p:nvSpPr>
          <p:cNvPr id="14" name="Project text"/>
          <p:cNvSpPr txBox="1"/>
          <p:nvPr/>
        </p:nvSpPr>
        <p:spPr>
          <a:xfrm>
            <a:off x="6583680" y="3200400"/>
            <a:ext cx="4846320" cy="822960"/>
          </a:xfrm>
          <a:prstGeom prst="rect">
            <a:avLst/>
          </a:prstGeom>
          <a:noFill/>
        </p:spPr>
        <p:txBody>
          <a:bodyPr wrap="square" lIns="36576" tIns="27432" rIns="36576" bIns="27432">
            <a:spAutoFit/>
          </a:bodyPr>
          <a:lstStyle/>
          <a:p>
            <a:pPr algn="ctr">
              <a:lnSpc>
                <a:spcPct val="112000"/>
              </a:lnSpc>
              <a:spcAft>
                <a:spcPts val="900"/>
              </a:spcAft>
            </a:pPr>
            <a:r>
              <a:rPr sz="5200" b="1">
                <a:solidFill>
                  <a:srgbClr val="206783"/>
                </a:solidFill>
                <a:latin typeface="Poppins"/>
              </a:rPr>
              <a:t>5,454</a:t>
            </a:r>
          </a:p>
        </p:txBody>
      </p:sp>
      <p:sp>
        <p:nvSpPr>
          <p:cNvPr id="15" name="Project text"/>
          <p:cNvSpPr txBox="1"/>
          <p:nvPr/>
        </p:nvSpPr>
        <p:spPr>
          <a:xfrm>
            <a:off x="6583680" y="4096512"/>
            <a:ext cx="4846320" cy="548640"/>
          </a:xfrm>
          <a:prstGeom prst="rect">
            <a:avLst/>
          </a:prstGeom>
          <a:noFill/>
        </p:spPr>
        <p:txBody>
          <a:bodyPr wrap="square" lIns="36576" tIns="27432" rIns="36576" bIns="27432">
            <a:spAutoFit/>
          </a:bodyPr>
          <a:lstStyle/>
          <a:p>
            <a:pPr algn="ctr">
              <a:lnSpc>
                <a:spcPct val="112000"/>
              </a:lnSpc>
              <a:spcAft>
                <a:spcPts val="900"/>
              </a:spcAft>
            </a:pPr>
            <a:r>
              <a:rPr sz="2500" b="0">
                <a:solidFill>
                  <a:srgbClr val="202329"/>
                </a:solidFill>
                <a:latin typeface="Poppins"/>
              </a:rPr>
              <a:t>Accepted rows</a:t>
            </a:r>
          </a:p>
        </p:txBody>
      </p:sp>
      <p:sp>
        <p:nvSpPr>
          <p:cNvPr id="16" name="Project text"/>
          <p:cNvSpPr txBox="1"/>
          <p:nvPr/>
        </p:nvSpPr>
        <p:spPr>
          <a:xfrm>
            <a:off x="12070080" y="3200400"/>
            <a:ext cx="4846320" cy="822960"/>
          </a:xfrm>
          <a:prstGeom prst="rect">
            <a:avLst/>
          </a:prstGeom>
          <a:noFill/>
        </p:spPr>
        <p:txBody>
          <a:bodyPr wrap="square" lIns="36576" tIns="27432" rIns="36576" bIns="27432">
            <a:spAutoFit/>
          </a:bodyPr>
          <a:lstStyle/>
          <a:p>
            <a:pPr algn="ctr">
              <a:lnSpc>
                <a:spcPct val="112000"/>
              </a:lnSpc>
              <a:spcAft>
                <a:spcPts val="900"/>
              </a:spcAft>
            </a:pPr>
            <a:r>
              <a:rPr sz="5200" b="1">
                <a:solidFill>
                  <a:srgbClr val="206783"/>
                </a:solidFill>
                <a:latin typeface="Poppins"/>
              </a:rPr>
              <a:t>2</a:t>
            </a:r>
          </a:p>
        </p:txBody>
      </p:sp>
      <p:sp>
        <p:nvSpPr>
          <p:cNvPr id="17" name="Project text"/>
          <p:cNvSpPr txBox="1"/>
          <p:nvPr/>
        </p:nvSpPr>
        <p:spPr>
          <a:xfrm>
            <a:off x="12070080" y="4096512"/>
            <a:ext cx="4846320" cy="548640"/>
          </a:xfrm>
          <a:prstGeom prst="rect">
            <a:avLst/>
          </a:prstGeom>
          <a:noFill/>
        </p:spPr>
        <p:txBody>
          <a:bodyPr wrap="square" lIns="36576" tIns="27432" rIns="36576" bIns="27432">
            <a:spAutoFit/>
          </a:bodyPr>
          <a:lstStyle/>
          <a:p>
            <a:pPr algn="ctr">
              <a:lnSpc>
                <a:spcPct val="112000"/>
              </a:lnSpc>
              <a:spcAft>
                <a:spcPts val="900"/>
              </a:spcAft>
            </a:pPr>
            <a:r>
              <a:rPr sz="2500" b="0">
                <a:solidFill>
                  <a:srgbClr val="202329"/>
                </a:solidFill>
                <a:latin typeface="Poppins"/>
              </a:rPr>
              <a:t>Quarantined rows</a:t>
            </a:r>
          </a:p>
        </p:txBody>
      </p:sp>
      <p:pic>
        <p:nvPicPr>
          <p:cNvPr id="18" name="Picture 17" descr="data-split.png"/>
          <p:cNvPicPr>
            <a:picLocks noChangeAspect="1"/>
          </p:cNvPicPr>
          <p:nvPr/>
        </p:nvPicPr>
        <p:blipFill>
          <a:blip r:embed="rId3"/>
          <a:stretch>
            <a:fillRect/>
          </a:stretch>
        </p:blipFill>
        <p:spPr>
          <a:xfrm>
            <a:off x="2684417" y="4800600"/>
            <a:ext cx="12736285" cy="2971800"/>
          </a:xfrm>
          <a:prstGeom prst="rect">
            <a:avLst/>
          </a:prstGeom>
        </p:spPr>
      </p:pic>
      <p:sp>
        <p:nvSpPr>
          <p:cNvPr id="19" name="Project text"/>
          <p:cNvSpPr txBox="1"/>
          <p:nvPr/>
        </p:nvSpPr>
        <p:spPr>
          <a:xfrm>
            <a:off x="1097280" y="8001000"/>
            <a:ext cx="15910559" cy="1097280"/>
          </a:xfrm>
          <a:prstGeom prst="rect">
            <a:avLst/>
          </a:prstGeom>
          <a:noFill/>
        </p:spPr>
        <p:txBody>
          <a:bodyPr wrap="square" lIns="36576" tIns="27432" rIns="36576" bIns="27432">
            <a:spAutoFit/>
          </a:bodyPr>
          <a:lstStyle/>
          <a:p>
            <a:pPr algn="l">
              <a:lnSpc>
                <a:spcPct val="112000"/>
              </a:lnSpc>
              <a:spcAft>
                <a:spcPts val="900"/>
              </a:spcAft>
            </a:pPr>
            <a:r>
              <a:rPr sz="2300" b="1">
                <a:solidFill>
                  <a:srgbClr val="202329"/>
                </a:solidFill>
                <a:latin typeface="Poppins"/>
              </a:rPr>
              <a:t>CC BY 4.0 [1]</a:t>
            </a:r>
            <a:r>
              <a:rPr sz="2300" b="0">
                <a:solidFill>
                  <a:srgbClr val="202329"/>
                </a:solidFill>
                <a:latin typeface="Poppins"/>
              </a:rPr>
              <a:t>  |  Raw SHA-256 + DVC pointer  |  Seed 42</a:t>
            </a:r>
          </a:p>
          <a:p>
            <a:pPr algn="l">
              <a:lnSpc>
                <a:spcPct val="112000"/>
              </a:lnSpc>
              <a:spcAft>
                <a:spcPts val="900"/>
              </a:spcAft>
            </a:pPr>
            <a:r>
              <a:rPr sz="2300" b="0">
                <a:solidFill>
                  <a:srgbClr val="202329"/>
                </a:solidFill>
                <a:latin typeface="Poppins"/>
              </a:rPr>
              <a:t>Train-only imputation/scaling. Identical profiles stay in one split.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a:solidFill>
                  <a:srgbClr val="FFDC51"/>
                </a:solidFill>
                <a:latin typeface="League Spartan"/>
                <a:ea typeface="League Spartan"/>
                <a:cs typeface="League Spartan"/>
                <a:sym typeface="League Spartan"/>
              </a:rPr>
              <a:t>THE SAME BUNDLE</a:t>
            </a:r>
          </a:p>
          <a:p>
            <a:pPr>
              <a:lnSpc>
                <a:spcPct val="102000"/>
              </a:lnSpc>
              <a:spcAft>
                <a:spcPts val="0"/>
              </a:spcAft>
            </a:pPr>
            <a:r>
              <a:rPr lang="en-US" sz="5000">
                <a:solidFill>
                  <a:srgbClr val="FFDC51"/>
                </a:solidFill>
                <a:latin typeface="League Spartan"/>
                <a:ea typeface="League Spartan"/>
                <a:cs typeface="League Spartan"/>
                <a:sym typeface="League Spartan"/>
              </a:rPr>
              <a:t>REACHES THE API</a:t>
            </a:r>
          </a:p>
        </p:txBody>
      </p:sp>
      <p:sp>
        <p:nvSpPr>
          <p:cNvPr id="8"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5</a:t>
            </a:r>
          </a:p>
        </p:txBody>
      </p:sp>
      <p:sp>
        <p:nvSpPr>
          <p:cNvPr id="9"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reports/finish-training-registry.json; bundle-manifest.json; ci-deploy-result.json</a:t>
            </a:r>
          </a:p>
        </p:txBody>
      </p:sp>
      <p:sp>
        <p:nvSpPr>
          <p:cNvPr id="10" name="Project panel"/>
          <p:cNvSpPr/>
          <p:nvPr/>
        </p:nvSpPr>
        <p:spPr>
          <a:xfrm>
            <a:off x="1097280" y="3246120"/>
            <a:ext cx="7772400" cy="338328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roject text"/>
          <p:cNvSpPr txBox="1"/>
          <p:nvPr/>
        </p:nvSpPr>
        <p:spPr>
          <a:xfrm>
            <a:off x="1298448" y="3429000"/>
            <a:ext cx="73700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06783"/>
                </a:solidFill>
                <a:latin typeface="Poppins"/>
              </a:rPr>
              <a:t>MANAGED TRAINING</a:t>
            </a:r>
          </a:p>
        </p:txBody>
      </p:sp>
      <p:sp>
        <p:nvSpPr>
          <p:cNvPr id="12" name="Project text"/>
          <p:cNvSpPr txBox="1"/>
          <p:nvPr/>
        </p:nvSpPr>
        <p:spPr>
          <a:xfrm>
            <a:off x="1298448" y="4160520"/>
            <a:ext cx="7370064" cy="2331720"/>
          </a:xfrm>
          <a:prstGeom prst="rect">
            <a:avLst/>
          </a:prstGeom>
          <a:noFill/>
        </p:spPr>
        <p:txBody>
          <a:bodyPr wrap="square" lIns="36576" tIns="27432" rIns="36576" bIns="27432">
            <a:spAutoFit/>
          </a:bodyPr>
          <a:lstStyle/>
          <a:p>
            <a:pPr algn="l">
              <a:lnSpc>
                <a:spcPct val="112000"/>
              </a:lnSpc>
              <a:spcAft>
                <a:spcPts val="900"/>
              </a:spcAft>
            </a:pPr>
            <a:r>
              <a:rPr sz="2400" b="0">
                <a:solidFill>
                  <a:srgbClr val="202329"/>
                </a:solidFill>
                <a:latin typeface="Poppins"/>
              </a:rPr>
              <a:t>Azure ML job: Completed</a:t>
            </a:r>
          </a:p>
          <a:p>
            <a:pPr algn="l">
              <a:lnSpc>
                <a:spcPct val="112000"/>
              </a:lnSpc>
              <a:spcAft>
                <a:spcPts val="900"/>
              </a:spcAft>
            </a:pPr>
            <a:r>
              <a:rPr sz="2400" b="0">
                <a:solidFill>
                  <a:srgbClr val="202329"/>
                </a:solidFill>
                <a:latin typeface="Poppins"/>
              </a:rPr>
              <a:t>Fresh-fit equivalence: passed</a:t>
            </a:r>
          </a:p>
          <a:p>
            <a:pPr algn="l">
              <a:lnSpc>
                <a:spcPct val="112000"/>
              </a:lnSpc>
              <a:spcAft>
                <a:spcPts val="900"/>
              </a:spcAft>
            </a:pPr>
            <a:r>
              <a:rPr sz="2400" b="0">
                <a:solidFill>
                  <a:srgbClr val="202329"/>
                </a:solidFill>
                <a:latin typeface="Poppins"/>
              </a:rPr>
              <a:t>Registry: travel-style, version 1</a:t>
            </a:r>
          </a:p>
        </p:txBody>
      </p:sp>
      <p:sp>
        <p:nvSpPr>
          <p:cNvPr id="13" name="Project panel"/>
          <p:cNvSpPr/>
          <p:nvPr/>
        </p:nvSpPr>
        <p:spPr>
          <a:xfrm>
            <a:off x="9326880" y="3246120"/>
            <a:ext cx="7772400" cy="338328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roject text"/>
          <p:cNvSpPr txBox="1"/>
          <p:nvPr/>
        </p:nvSpPr>
        <p:spPr>
          <a:xfrm>
            <a:off x="9528048" y="3429000"/>
            <a:ext cx="73700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030F7D"/>
                </a:solidFill>
                <a:latin typeface="Poppins"/>
              </a:rPr>
              <a:t>SERVING BUNDLE</a:t>
            </a:r>
          </a:p>
        </p:txBody>
      </p:sp>
      <p:sp>
        <p:nvSpPr>
          <p:cNvPr id="15" name="Project text"/>
          <p:cNvSpPr txBox="1"/>
          <p:nvPr/>
        </p:nvSpPr>
        <p:spPr>
          <a:xfrm>
            <a:off x="9528048" y="4160520"/>
            <a:ext cx="7370064" cy="2331720"/>
          </a:xfrm>
          <a:prstGeom prst="rect">
            <a:avLst/>
          </a:prstGeom>
          <a:noFill/>
        </p:spPr>
        <p:txBody>
          <a:bodyPr wrap="square" lIns="36576" tIns="27432" rIns="36576" bIns="27432">
            <a:spAutoFit/>
          </a:bodyPr>
          <a:lstStyle/>
          <a:p>
            <a:pPr algn="l">
              <a:lnSpc>
                <a:spcPct val="112000"/>
              </a:lnSpc>
              <a:spcAft>
                <a:spcPts val="900"/>
              </a:spcAft>
            </a:pPr>
            <a:r>
              <a:rPr sz="2400" b="0">
                <a:solidFill>
                  <a:srgbClr val="202329"/>
                </a:solidFill>
                <a:latin typeface="Poppins"/>
              </a:rPr>
              <a:t>Preprocessing + feature order</a:t>
            </a:r>
          </a:p>
          <a:p>
            <a:pPr algn="l">
              <a:lnSpc>
                <a:spcPct val="112000"/>
              </a:lnSpc>
              <a:spcAft>
                <a:spcPts val="900"/>
              </a:spcAft>
            </a:pPr>
            <a:r>
              <a:rPr sz="2400" b="0">
                <a:solidFill>
                  <a:srgbClr val="202329"/>
                </a:solidFill>
                <a:latin typeface="Poppins"/>
              </a:rPr>
              <a:t>Centers + mapping + thresholds</a:t>
            </a:r>
          </a:p>
          <a:p>
            <a:pPr algn="l">
              <a:lnSpc>
                <a:spcPct val="112000"/>
              </a:lnSpc>
              <a:spcAft>
                <a:spcPts val="900"/>
              </a:spcAft>
            </a:pPr>
            <a:r>
              <a:rPr sz="2400" b="0">
                <a:solidFill>
                  <a:srgbClr val="202329"/>
                </a:solidFill>
                <a:latin typeface="Poppins"/>
              </a:rPr>
              <a:t>Hash and golden checks at startup</a:t>
            </a:r>
          </a:p>
        </p:txBody>
      </p:sp>
      <p:sp>
        <p:nvSpPr>
          <p:cNvPr id="16" name="Project panel"/>
          <p:cNvSpPr/>
          <p:nvPr/>
        </p:nvSpPr>
        <p:spPr>
          <a:xfrm>
            <a:off x="1097280" y="7178040"/>
            <a:ext cx="16002000" cy="160020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Project text"/>
          <p:cNvSpPr txBox="1"/>
          <p:nvPr/>
        </p:nvSpPr>
        <p:spPr>
          <a:xfrm>
            <a:off x="1371600" y="7315200"/>
            <a:ext cx="7315200" cy="594360"/>
          </a:xfrm>
          <a:prstGeom prst="rect">
            <a:avLst/>
          </a:prstGeom>
          <a:noFill/>
        </p:spPr>
        <p:txBody>
          <a:bodyPr wrap="square" lIns="36576" tIns="27432" rIns="36576" bIns="27432">
            <a:spAutoFit/>
          </a:bodyPr>
          <a:lstStyle/>
          <a:p>
            <a:pPr algn="l">
              <a:lnSpc>
                <a:spcPct val="112000"/>
              </a:lnSpc>
              <a:spcAft>
                <a:spcPts val="900"/>
              </a:spcAft>
            </a:pPr>
            <a:r>
              <a:rPr sz="2600" b="1">
                <a:solidFill>
                  <a:srgbClr val="206783"/>
                </a:solidFill>
                <a:latin typeface="Poppins"/>
              </a:rPr>
              <a:t>Model version: abfd88e893ca</a:t>
            </a:r>
          </a:p>
        </p:txBody>
      </p:sp>
      <p:sp>
        <p:nvSpPr>
          <p:cNvPr id="18" name="Project text"/>
          <p:cNvSpPr txBox="1"/>
          <p:nvPr/>
        </p:nvSpPr>
        <p:spPr>
          <a:xfrm>
            <a:off x="9326880" y="7360920"/>
            <a:ext cx="7315200" cy="1005840"/>
          </a:xfrm>
          <a:prstGeom prst="rect">
            <a:avLst/>
          </a:prstGeom>
          <a:noFill/>
        </p:spPr>
        <p:txBody>
          <a:bodyPr wrap="square" lIns="36576" tIns="27432" rIns="36576" bIns="27432">
            <a:spAutoFit/>
          </a:bodyPr>
          <a:lstStyle/>
          <a:p>
            <a:pPr algn="l">
              <a:lnSpc>
                <a:spcPct val="105000"/>
              </a:lnSpc>
              <a:spcAft>
                <a:spcPts val="300"/>
              </a:spcAft>
            </a:pPr>
            <a:r>
              <a:rPr sz="2100" b="0">
                <a:solidFill>
                  <a:srgbClr val="202329"/>
                </a:solidFill>
                <a:latin typeface="Consolas"/>
              </a:rPr>
              <a:t>Bundle SHA-256: 71f3ba41b4b964f5...</a:t>
            </a:r>
          </a:p>
          <a:p>
            <a:pPr algn="l">
              <a:lnSpc>
                <a:spcPct val="105000"/>
              </a:lnSpc>
              <a:spcAft>
                <a:spcPts val="300"/>
              </a:spcAft>
            </a:pPr>
            <a:r>
              <a:rPr sz="2100" b="0">
                <a:solidFill>
                  <a:srgbClr val="202329"/>
                </a:solidFill>
                <a:latin typeface="Consolas"/>
              </a:rPr>
              <a:t>CI image digest: f124df59007a...</a:t>
            </a:r>
          </a:p>
        </p:txBody>
      </p:sp>
      <p:sp>
        <p:nvSpPr>
          <p:cNvPr id="19" name="Project text"/>
          <p:cNvSpPr txBox="1"/>
          <p:nvPr/>
        </p:nvSpPr>
        <p:spPr>
          <a:xfrm>
            <a:off x="1371600" y="8028431"/>
            <a:ext cx="7315200" cy="594360"/>
          </a:xfrm>
          <a:prstGeom prst="rect">
            <a:avLst/>
          </a:prstGeom>
          <a:noFill/>
        </p:spPr>
        <p:txBody>
          <a:bodyPr wrap="square" lIns="36576" tIns="27432" rIns="36576" bIns="27432">
            <a:spAutoFit/>
          </a:bodyPr>
          <a:lstStyle/>
          <a:p>
            <a:pPr algn="l">
              <a:lnSpc>
                <a:spcPct val="112000"/>
              </a:lnSpc>
              <a:spcAft>
                <a:spcPts val="900"/>
              </a:spcAft>
            </a:pPr>
            <a:r>
              <a:rPr sz="2100" b="0">
                <a:solidFill>
                  <a:srgbClr val="202329"/>
                </a:solidFill>
                <a:latin typeface="Poppins"/>
              </a:rPr>
              <a:t>Immutable images use one canonical bundle.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a:solidFill>
                  <a:srgbClr val="FFDC51"/>
                </a:solidFill>
                <a:latin typeface="League Spartan"/>
                <a:ea typeface="League Spartan"/>
                <a:cs typeface="League Spartan"/>
                <a:sym typeface="League Spartan"/>
              </a:rPr>
              <a:t>LIVE DEMO:</a:t>
            </a:r>
          </a:p>
          <a:p>
            <a:pPr>
              <a:lnSpc>
                <a:spcPct val="102000"/>
              </a:lnSpc>
              <a:spcAft>
                <a:spcPts val="0"/>
              </a:spcAft>
            </a:pPr>
            <a:r>
              <a:rPr lang="en-US" sz="5000">
                <a:solidFill>
                  <a:srgbClr val="FFDC51"/>
                </a:solidFill>
                <a:latin typeface="League Spartan"/>
                <a:ea typeface="League Spartan"/>
                <a:cs typeface="League Spartan"/>
                <a:sym typeface="League Spartan"/>
              </a:rPr>
              <a:t>VALID AND UNEXPECTED INPUT</a:t>
            </a:r>
          </a:p>
        </p:txBody>
      </p:sp>
      <p:sp>
        <p:nvSpPr>
          <p:cNvPr id="9"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6</a:t>
            </a:r>
          </a:p>
        </p:txBody>
      </p:sp>
      <p:sp>
        <p:nvSpPr>
          <p:cNvPr id="10"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output/presentation/evidence/api-demo.json; service/schemas.py</a:t>
            </a:r>
          </a:p>
        </p:txBody>
      </p:sp>
      <p:graphicFrame>
        <p:nvGraphicFramePr>
          <p:cNvPr id="11" name="Table 10"/>
          <p:cNvGraphicFramePr>
            <a:graphicFrameLocks noGrp="1"/>
          </p:cNvGraphicFramePr>
          <p:nvPr/>
        </p:nvGraphicFramePr>
        <p:xfrm>
          <a:off x="1051560" y="3337560"/>
          <a:ext cx="8778240" cy="3291839"/>
        </p:xfrm>
        <a:graphic>
          <a:graphicData uri="http://schemas.openxmlformats.org/drawingml/2006/table">
            <a:tbl>
              <a:tblPr firstRow="1" bandRow="1">
                <a:tableStyleId>{5C22544A-7EE6-4342-B048-85BDC9FD1C3A}</a:tableStyleId>
              </a:tblPr>
              <a:tblGrid>
                <a:gridCol w="48463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658367">
                <a:tc>
                  <a:txBody>
                    <a:bodyPr/>
                    <a:lstStyle/>
                    <a:p>
                      <a:r>
                        <a:rPr sz="2200" b="1">
                          <a:solidFill>
                            <a:srgbClr val="FFFFFF"/>
                          </a:solidFill>
                          <a:latin typeface="Poppins"/>
                        </a:rPr>
                        <a:t>Request</a:t>
                      </a:r>
                    </a:p>
                  </a:txBody>
                  <a:tcPr marL="146304" marR="109728" anchor="ctr">
                    <a:solidFill>
                      <a:srgbClr val="030F7D"/>
                    </a:solidFill>
                  </a:tcPr>
                </a:tc>
                <a:tc>
                  <a:txBody>
                    <a:bodyPr/>
                    <a:lstStyle/>
                    <a:p>
                      <a:r>
                        <a:rPr sz="2200" b="1">
                          <a:solidFill>
                            <a:srgbClr val="FFFFFF"/>
                          </a:solidFill>
                          <a:latin typeface="Poppins"/>
                        </a:rPr>
                        <a:t>Expected / verified</a:t>
                      </a:r>
                    </a:p>
                  </a:txBody>
                  <a:tcPr marL="146304" marR="109728" anchor="ctr">
                    <a:solidFill>
                      <a:srgbClr val="030F7D"/>
                    </a:solidFill>
                  </a:tcPr>
                </a:tc>
                <a:extLst>
                  <a:ext uri="{0D108BD9-81ED-4DB2-BD59-A6C34878D82A}">
                    <a16:rowId xmlns:a16="http://schemas.microsoft.com/office/drawing/2014/main" val="10000"/>
                  </a:ext>
                </a:extLst>
              </a:tr>
              <a:tr h="658367">
                <a:tc>
                  <a:txBody>
                    <a:bodyPr/>
                    <a:lstStyle/>
                    <a:p>
                      <a:r>
                        <a:rPr sz="2200" b="0">
                          <a:solidFill>
                            <a:srgbClr val="202329"/>
                          </a:solidFill>
                          <a:latin typeface="Poppins"/>
                        </a:rPr>
                        <a:t>Valid 24-field profile</a:t>
                      </a:r>
                    </a:p>
                  </a:txBody>
                  <a:tcPr marL="146304" marR="109728" anchor="ctr">
                    <a:solidFill>
                      <a:srgbClr val="F3F5F9"/>
                    </a:solidFill>
                  </a:tcPr>
                </a:tc>
                <a:tc>
                  <a:txBody>
                    <a:bodyPr/>
                    <a:lstStyle/>
                    <a:p>
                      <a:r>
                        <a:rPr sz="2200" b="0">
                          <a:solidFill>
                            <a:srgbClr val="202329"/>
                          </a:solidFill>
                          <a:latin typeface="Poppins"/>
                        </a:rPr>
                        <a:t>200 + segment</a:t>
                      </a:r>
                    </a:p>
                  </a:txBody>
                  <a:tcPr marL="146304" marR="109728" anchor="ctr">
                    <a:solidFill>
                      <a:srgbClr val="F3F5F9"/>
                    </a:solidFill>
                  </a:tcPr>
                </a:tc>
                <a:extLst>
                  <a:ext uri="{0D108BD9-81ED-4DB2-BD59-A6C34878D82A}">
                    <a16:rowId xmlns:a16="http://schemas.microsoft.com/office/drawing/2014/main" val="10001"/>
                  </a:ext>
                </a:extLst>
              </a:tr>
              <a:tr h="658367">
                <a:tc>
                  <a:txBody>
                    <a:bodyPr/>
                    <a:lstStyle/>
                    <a:p>
                      <a:r>
                        <a:rPr sz="2200" b="0">
                          <a:solidFill>
                            <a:srgbClr val="202329"/>
                          </a:solidFill>
                          <a:latin typeface="Poppins"/>
                        </a:rPr>
                        <a:t>Missing fields / invalid rating</a:t>
                      </a:r>
                    </a:p>
                  </a:txBody>
                  <a:tcPr marL="146304" marR="109728" anchor="ctr">
                    <a:solidFill>
                      <a:srgbClr val="FFFFFF"/>
                    </a:solidFill>
                  </a:tcPr>
                </a:tc>
                <a:tc>
                  <a:txBody>
                    <a:bodyPr/>
                    <a:lstStyle/>
                    <a:p>
                      <a:r>
                        <a:rPr sz="2200" b="0">
                          <a:solidFill>
                            <a:srgbClr val="202329"/>
                          </a:solidFill>
                          <a:latin typeface="Poppins"/>
                        </a:rPr>
                        <a:t>422, clear validation error</a:t>
                      </a:r>
                    </a:p>
                  </a:txBody>
                  <a:tcPr marL="146304" marR="109728" anchor="ctr">
                    <a:solidFill>
                      <a:srgbClr val="FFFFFF"/>
                    </a:solidFill>
                  </a:tcPr>
                </a:tc>
                <a:extLst>
                  <a:ext uri="{0D108BD9-81ED-4DB2-BD59-A6C34878D82A}">
                    <a16:rowId xmlns:a16="http://schemas.microsoft.com/office/drawing/2014/main" val="10002"/>
                  </a:ext>
                </a:extLst>
              </a:tr>
              <a:tr h="658367">
                <a:tc>
                  <a:txBody>
                    <a:bodyPr/>
                    <a:lstStyle/>
                    <a:p>
                      <a:r>
                        <a:rPr sz="2200" b="0">
                          <a:solidFill>
                            <a:srgbClr val="202329"/>
                          </a:solidFill>
                          <a:latin typeface="Poppins"/>
                        </a:rPr>
                        <a:t>Batch of 100 profiles</a:t>
                      </a:r>
                    </a:p>
                  </a:txBody>
                  <a:tcPr marL="146304" marR="109728" anchor="ctr">
                    <a:solidFill>
                      <a:srgbClr val="F3F5F9"/>
                    </a:solidFill>
                  </a:tcPr>
                </a:tc>
                <a:tc>
                  <a:txBody>
                    <a:bodyPr/>
                    <a:lstStyle/>
                    <a:p>
                      <a:r>
                        <a:rPr sz="2200" b="0">
                          <a:solidFill>
                            <a:srgbClr val="202329"/>
                          </a:solidFill>
                          <a:latin typeface="Poppins"/>
                        </a:rPr>
                        <a:t>200; golden check passed</a:t>
                      </a:r>
                    </a:p>
                  </a:txBody>
                  <a:tcPr marL="146304" marR="109728" anchor="ctr">
                    <a:solidFill>
                      <a:srgbClr val="F3F5F9"/>
                    </a:solidFill>
                  </a:tcPr>
                </a:tc>
                <a:extLst>
                  <a:ext uri="{0D108BD9-81ED-4DB2-BD59-A6C34878D82A}">
                    <a16:rowId xmlns:a16="http://schemas.microsoft.com/office/drawing/2014/main" val="10003"/>
                  </a:ext>
                </a:extLst>
              </a:tr>
              <a:tr h="658371">
                <a:tc>
                  <a:txBody>
                    <a:bodyPr/>
                    <a:lstStyle/>
                    <a:p>
                      <a:r>
                        <a:rPr sz="2200" b="0">
                          <a:solidFill>
                            <a:srgbClr val="202329"/>
                          </a:solidFill>
                          <a:latin typeface="Poppins"/>
                        </a:rPr>
                        <a:t>Semantic canary</a:t>
                      </a:r>
                    </a:p>
                  </a:txBody>
                  <a:tcPr marL="146304" marR="109728" anchor="ctr">
                    <a:solidFill>
                      <a:srgbClr val="FFFFFF"/>
                    </a:solidFill>
                  </a:tcPr>
                </a:tc>
                <a:tc>
                  <a:txBody>
                    <a:bodyPr/>
                    <a:lstStyle/>
                    <a:p>
                      <a:r>
                        <a:rPr sz="2200" b="0">
                          <a:solidFill>
                            <a:srgbClr val="202329"/>
                          </a:solidFill>
                          <a:latin typeface="Poppins"/>
                        </a:rPr>
                        <a:t>200; predictions match</a:t>
                      </a:r>
                    </a:p>
                  </a:txBody>
                  <a:tcPr marL="146304" marR="109728" anchor="ctr">
                    <a:solidFill>
                      <a:srgbClr val="FFFFFF"/>
                    </a:solidFill>
                  </a:tcPr>
                </a:tc>
                <a:extLst>
                  <a:ext uri="{0D108BD9-81ED-4DB2-BD59-A6C34878D82A}">
                    <a16:rowId xmlns:a16="http://schemas.microsoft.com/office/drawing/2014/main" val="10004"/>
                  </a:ext>
                </a:extLst>
              </a:tr>
            </a:tbl>
          </a:graphicData>
        </a:graphic>
      </p:graphicFrame>
      <p:sp>
        <p:nvSpPr>
          <p:cNvPr id="12" name="Project panel"/>
          <p:cNvSpPr/>
          <p:nvPr/>
        </p:nvSpPr>
        <p:spPr>
          <a:xfrm>
            <a:off x="10332720" y="3337560"/>
            <a:ext cx="6766560" cy="4572000"/>
          </a:xfrm>
          <a:prstGeom prst="roundRect">
            <a:avLst>
              <a:gd name="adj" fmla="val 8000"/>
            </a:avLst>
          </a:prstGeom>
          <a:solidFill>
            <a:srgbClr val="EE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Project text"/>
          <p:cNvSpPr txBox="1"/>
          <p:nvPr/>
        </p:nvSpPr>
        <p:spPr>
          <a:xfrm>
            <a:off x="10607040" y="3611880"/>
            <a:ext cx="6217920" cy="594360"/>
          </a:xfrm>
          <a:prstGeom prst="rect">
            <a:avLst/>
          </a:prstGeom>
          <a:noFill/>
        </p:spPr>
        <p:txBody>
          <a:bodyPr wrap="square" lIns="36576" tIns="27432" rIns="36576" bIns="27432">
            <a:spAutoFit/>
          </a:bodyPr>
          <a:lstStyle/>
          <a:p>
            <a:pPr algn="l">
              <a:lnSpc>
                <a:spcPct val="112000"/>
              </a:lnSpc>
              <a:spcAft>
                <a:spcPts val="900"/>
              </a:spcAft>
            </a:pPr>
            <a:r>
              <a:rPr sz="2300" b="1">
                <a:solidFill>
                  <a:srgbClr val="206783"/>
                </a:solidFill>
                <a:latin typeface="Poppins"/>
              </a:rPr>
              <a:t>SAVED REAL HTTP RESPONSE</a:t>
            </a:r>
          </a:p>
        </p:txBody>
      </p:sp>
      <p:sp>
        <p:nvSpPr>
          <p:cNvPr id="14" name="Project text"/>
          <p:cNvSpPr txBox="1"/>
          <p:nvPr/>
        </p:nvSpPr>
        <p:spPr>
          <a:xfrm>
            <a:off x="10607040" y="4526280"/>
            <a:ext cx="6217920" cy="3108960"/>
          </a:xfrm>
          <a:prstGeom prst="rect">
            <a:avLst/>
          </a:prstGeom>
          <a:noFill/>
        </p:spPr>
        <p:txBody>
          <a:bodyPr wrap="square" lIns="36576" tIns="27432" rIns="36576" bIns="27432">
            <a:spAutoFit/>
          </a:bodyPr>
          <a:lstStyle/>
          <a:p>
            <a:pPr algn="l">
              <a:lnSpc>
                <a:spcPct val="105000"/>
              </a:lnSpc>
              <a:spcAft>
                <a:spcPts val="300"/>
              </a:spcAft>
            </a:pPr>
            <a:r>
              <a:rPr sz="2200" b="0">
                <a:solidFill>
                  <a:srgbClr val="202329"/>
                </a:solidFill>
                <a:latin typeface="Consolas"/>
              </a:rPr>
              <a:t>{</a:t>
            </a:r>
          </a:p>
          <a:p>
            <a:pPr algn="l">
              <a:lnSpc>
                <a:spcPct val="105000"/>
              </a:lnSpc>
              <a:spcAft>
                <a:spcPts val="300"/>
              </a:spcAft>
            </a:pPr>
            <a:r>
              <a:rPr sz="2200" b="0">
                <a:solidFill>
                  <a:srgbClr val="202329"/>
                </a:solidFill>
                <a:latin typeface="Consolas"/>
              </a:rPr>
              <a:t>  "segment": "Segment 1",</a:t>
            </a:r>
          </a:p>
          <a:p>
            <a:pPr algn="l">
              <a:lnSpc>
                <a:spcPct val="105000"/>
              </a:lnSpc>
              <a:spcAft>
                <a:spcPts val="300"/>
              </a:spcAft>
            </a:pPr>
            <a:r>
              <a:rPr sz="2200" b="0">
                <a:solidFill>
                  <a:srgbClr val="202329"/>
                </a:solidFill>
                <a:latin typeface="Consolas"/>
              </a:rPr>
              <a:t>  "cluster_id": 0,</a:t>
            </a:r>
          </a:p>
          <a:p>
            <a:pPr algn="l">
              <a:lnSpc>
                <a:spcPct val="105000"/>
              </a:lnSpc>
              <a:spcAft>
                <a:spcPts val="300"/>
              </a:spcAft>
            </a:pPr>
            <a:r>
              <a:rPr sz="2200" b="0">
                <a:solidFill>
                  <a:srgbClr val="202329"/>
                </a:solidFill>
                <a:latin typeface="Consolas"/>
              </a:rPr>
              <a:t>  "distance": 4.1435,</a:t>
            </a:r>
          </a:p>
          <a:p>
            <a:pPr algn="l">
              <a:lnSpc>
                <a:spcPct val="105000"/>
              </a:lnSpc>
              <a:spcAft>
                <a:spcPts val="300"/>
              </a:spcAft>
            </a:pPr>
            <a:r>
              <a:rPr sz="2200" b="0">
                <a:solidFill>
                  <a:srgbClr val="202329"/>
                </a:solidFill>
                <a:latin typeface="Consolas"/>
              </a:rPr>
              <a:t>  "uncertain": false,</a:t>
            </a:r>
          </a:p>
          <a:p>
            <a:pPr algn="l">
              <a:lnSpc>
                <a:spcPct val="105000"/>
              </a:lnSpc>
              <a:spcAft>
                <a:spcPts val="300"/>
              </a:spcAft>
            </a:pPr>
            <a:r>
              <a:rPr sz="2200" b="0">
                <a:solidFill>
                  <a:srgbClr val="202329"/>
                </a:solidFill>
                <a:latin typeface="Consolas"/>
              </a:rPr>
              <a:t>  "model_version": "abfd88e893ca"</a:t>
            </a:r>
          </a:p>
          <a:p>
            <a:pPr algn="l">
              <a:lnSpc>
                <a:spcPct val="105000"/>
              </a:lnSpc>
              <a:spcAft>
                <a:spcPts val="300"/>
              </a:spcAft>
            </a:pPr>
            <a:r>
              <a:rPr sz="2200" b="0">
                <a:solidFill>
                  <a:srgbClr val="202329"/>
                </a:solidFill>
                <a:latin typeface="Consolas"/>
              </a:rPr>
              <a:t>}</a:t>
            </a:r>
          </a:p>
        </p:txBody>
      </p:sp>
      <p:sp>
        <p:nvSpPr>
          <p:cNvPr id="15" name="Project text"/>
          <p:cNvSpPr txBox="1"/>
          <p:nvPr/>
        </p:nvSpPr>
        <p:spPr>
          <a:xfrm>
            <a:off x="1097280" y="8412480"/>
            <a:ext cx="16002000" cy="822960"/>
          </a:xfrm>
          <a:prstGeom prst="rect">
            <a:avLst/>
          </a:prstGeom>
          <a:noFill/>
        </p:spPr>
        <p:txBody>
          <a:bodyPr wrap="square" lIns="36576" tIns="27432" rIns="36576" bIns="27432">
            <a:spAutoFit/>
          </a:bodyPr>
          <a:lstStyle/>
          <a:p>
            <a:pPr algn="l">
              <a:lnSpc>
                <a:spcPct val="112000"/>
              </a:lnSpc>
              <a:spcAft>
                <a:spcPts val="900"/>
              </a:spcAft>
            </a:pPr>
            <a:r>
              <a:rPr sz="2300" b="0">
                <a:solidFill>
                  <a:srgbClr val="202329"/>
                </a:solidFill>
                <a:latin typeface="Poppins"/>
              </a:rPr>
              <a:t>Exactly 24 named, finite ratings in [0,5]. A valid uncertain profile returns a null segment.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a:solidFill>
                  <a:srgbClr val="FFDC51"/>
                </a:solidFill>
                <a:latin typeface="League Spartan"/>
                <a:ea typeface="League Spartan"/>
                <a:cs typeface="League Spartan"/>
                <a:sym typeface="League Spartan"/>
              </a:rPr>
              <a:t>FAILED TESTS</a:t>
            </a:r>
          </a:p>
          <a:p>
            <a:pPr>
              <a:lnSpc>
                <a:spcPct val="102000"/>
              </a:lnSpc>
              <a:spcAft>
                <a:spcPts val="0"/>
              </a:spcAft>
            </a:pPr>
            <a:r>
              <a:rPr lang="en-US" sz="5000">
                <a:solidFill>
                  <a:srgbClr val="FFDC51"/>
                </a:solidFill>
                <a:latin typeface="League Spartan"/>
                <a:ea typeface="League Spartan"/>
                <a:cs typeface="League Spartan"/>
                <a:sym typeface="League Spartan"/>
              </a:rPr>
              <a:t>BLOCK DEPLOYMENT</a:t>
            </a:r>
          </a:p>
        </p:txBody>
      </p:sp>
      <p:sp>
        <p:nvSpPr>
          <p:cNvPr id="9"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7</a:t>
            </a:r>
          </a:p>
        </p:txBody>
      </p:sp>
      <p:sp>
        <p:nvSpPr>
          <p:cNvPr id="10"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reports/ci-runs.json; reports/ci-deploy-result.json; .github/workflows/ci.yml</a:t>
            </a:r>
          </a:p>
        </p:txBody>
      </p:sp>
      <p:sp>
        <p:nvSpPr>
          <p:cNvPr id="11" name="Project panel"/>
          <p:cNvSpPr/>
          <p:nvPr/>
        </p:nvSpPr>
        <p:spPr>
          <a:xfrm>
            <a:off x="1097280" y="3291840"/>
            <a:ext cx="7772400" cy="32918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roject text"/>
          <p:cNvSpPr txBox="1"/>
          <p:nvPr/>
        </p:nvSpPr>
        <p:spPr>
          <a:xfrm>
            <a:off x="1298448" y="3474720"/>
            <a:ext cx="73700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3755B"/>
                </a:solidFill>
                <a:latin typeface="Poppins"/>
              </a:rPr>
              <a:t>NORMAL RUN</a:t>
            </a:r>
          </a:p>
        </p:txBody>
      </p:sp>
      <p:sp>
        <p:nvSpPr>
          <p:cNvPr id="13" name="Project text"/>
          <p:cNvSpPr txBox="1"/>
          <p:nvPr/>
        </p:nvSpPr>
        <p:spPr>
          <a:xfrm>
            <a:off x="1298448" y="4206240"/>
            <a:ext cx="7370064" cy="2240280"/>
          </a:xfrm>
          <a:prstGeom prst="rect">
            <a:avLst/>
          </a:prstGeom>
          <a:noFill/>
        </p:spPr>
        <p:txBody>
          <a:bodyPr wrap="square" lIns="36576" tIns="27432" rIns="36576" bIns="27432">
            <a:spAutoFit/>
          </a:bodyPr>
          <a:lstStyle/>
          <a:p>
            <a:pPr algn="l">
              <a:lnSpc>
                <a:spcPct val="112000"/>
              </a:lnSpc>
              <a:spcAft>
                <a:spcPts val="900"/>
              </a:spcAft>
            </a:pPr>
            <a:r>
              <a:rPr sz="2400" b="0">
                <a:solidFill>
                  <a:srgbClr val="202329"/>
                </a:solidFill>
                <a:latin typeface="Poppins"/>
              </a:rPr>
              <a:t>Tests: success</a:t>
            </a:r>
          </a:p>
          <a:p>
            <a:pPr algn="l">
              <a:lnSpc>
                <a:spcPct val="112000"/>
              </a:lnSpc>
              <a:spcAft>
                <a:spcPts val="900"/>
              </a:spcAft>
            </a:pPr>
            <a:r>
              <a:rPr sz="2400" b="0">
                <a:solidFill>
                  <a:srgbClr val="202329"/>
                </a:solidFill>
                <a:latin typeface="Poppins"/>
              </a:rPr>
              <a:t>Deploy: success</a:t>
            </a:r>
          </a:p>
          <a:p>
            <a:pPr algn="l">
              <a:lnSpc>
                <a:spcPct val="112000"/>
              </a:lnSpc>
              <a:spcAft>
                <a:spcPts val="900"/>
              </a:spcAft>
            </a:pPr>
            <a:r>
              <a:rPr sz="2400" b="0">
                <a:solidFill>
                  <a:srgbClr val="202329"/>
                </a:solidFill>
                <a:latin typeface="Poppins"/>
              </a:rPr>
              <a:t>Real HTTP smoke: passed</a:t>
            </a:r>
          </a:p>
        </p:txBody>
      </p:sp>
      <p:sp>
        <p:nvSpPr>
          <p:cNvPr id="14" name="Project panel"/>
          <p:cNvSpPr/>
          <p:nvPr/>
        </p:nvSpPr>
        <p:spPr>
          <a:xfrm>
            <a:off x="9326880" y="3291840"/>
            <a:ext cx="7772400" cy="32918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roject text"/>
          <p:cNvSpPr txBox="1"/>
          <p:nvPr/>
        </p:nvSpPr>
        <p:spPr>
          <a:xfrm>
            <a:off x="9528048" y="3474720"/>
            <a:ext cx="73700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C53A43"/>
                </a:solidFill>
                <a:latin typeface="Poppins"/>
              </a:rPr>
              <a:t>DELIBERATE FAILURE</a:t>
            </a:r>
          </a:p>
        </p:txBody>
      </p:sp>
      <p:sp>
        <p:nvSpPr>
          <p:cNvPr id="16" name="Project text"/>
          <p:cNvSpPr txBox="1"/>
          <p:nvPr/>
        </p:nvSpPr>
        <p:spPr>
          <a:xfrm>
            <a:off x="9528048" y="4206240"/>
            <a:ext cx="7370064" cy="2240280"/>
          </a:xfrm>
          <a:prstGeom prst="rect">
            <a:avLst/>
          </a:prstGeom>
          <a:noFill/>
        </p:spPr>
        <p:txBody>
          <a:bodyPr wrap="square" lIns="36576" tIns="27432" rIns="36576" bIns="27432">
            <a:spAutoFit/>
          </a:bodyPr>
          <a:lstStyle/>
          <a:p>
            <a:pPr algn="l">
              <a:lnSpc>
                <a:spcPct val="112000"/>
              </a:lnSpc>
              <a:spcAft>
                <a:spcPts val="900"/>
              </a:spcAft>
            </a:pPr>
            <a:r>
              <a:rPr sz="2400" b="0">
                <a:solidFill>
                  <a:srgbClr val="202329"/>
                </a:solidFill>
                <a:latin typeface="Poppins"/>
              </a:rPr>
              <a:t>Tests: failure</a:t>
            </a:r>
          </a:p>
          <a:p>
            <a:pPr algn="l">
              <a:lnSpc>
                <a:spcPct val="112000"/>
              </a:lnSpc>
              <a:spcAft>
                <a:spcPts val="900"/>
              </a:spcAft>
            </a:pPr>
            <a:r>
              <a:rPr sz="2400" b="0">
                <a:solidFill>
                  <a:srgbClr val="202329"/>
                </a:solidFill>
                <a:latin typeface="Poppins"/>
              </a:rPr>
              <a:t>Deploy: skipped</a:t>
            </a:r>
          </a:p>
          <a:p>
            <a:pPr algn="l">
              <a:lnSpc>
                <a:spcPct val="112000"/>
              </a:lnSpc>
              <a:spcAft>
                <a:spcPts val="900"/>
              </a:spcAft>
            </a:pPr>
            <a:r>
              <a:rPr sz="2400" b="0">
                <a:solidFill>
                  <a:srgbClr val="202329"/>
                </a:solidFill>
                <a:latin typeface="Poppins"/>
              </a:rPr>
              <a:t>Failed code was not shipped</a:t>
            </a:r>
          </a:p>
        </p:txBody>
      </p:sp>
      <p:sp>
        <p:nvSpPr>
          <p:cNvPr id="17" name="Project text"/>
          <p:cNvSpPr txBox="1"/>
          <p:nvPr/>
        </p:nvSpPr>
        <p:spPr>
          <a:xfrm>
            <a:off x="1325880" y="6903720"/>
            <a:ext cx="7315200" cy="685800"/>
          </a:xfrm>
          <a:prstGeom prst="rect">
            <a:avLst/>
          </a:prstGeom>
          <a:noFill/>
        </p:spPr>
        <p:txBody>
          <a:bodyPr wrap="square" lIns="36576" tIns="27432" rIns="36576" bIns="27432">
            <a:spAutoFit/>
          </a:bodyPr>
          <a:lstStyle/>
          <a:p>
            <a:pPr algn="l">
              <a:lnSpc>
                <a:spcPct val="112000"/>
              </a:lnSpc>
              <a:spcAft>
                <a:spcPts val="900"/>
              </a:spcAft>
            </a:pPr>
            <a:r>
              <a:rPr sz="2100" b="0">
                <a:solidFill>
                  <a:srgbClr val="030F7D"/>
                </a:solidFill>
                <a:latin typeface="Poppins"/>
                <a:hlinkClick r:id="rId3"/>
              </a:rPr>
              <a:t>Open GitHub Actions run 38173375457</a:t>
            </a:r>
          </a:p>
        </p:txBody>
      </p:sp>
      <p:sp>
        <p:nvSpPr>
          <p:cNvPr id="18" name="Project text"/>
          <p:cNvSpPr txBox="1"/>
          <p:nvPr/>
        </p:nvSpPr>
        <p:spPr>
          <a:xfrm>
            <a:off x="9555480" y="6903720"/>
            <a:ext cx="7315200" cy="685800"/>
          </a:xfrm>
          <a:prstGeom prst="rect">
            <a:avLst/>
          </a:prstGeom>
          <a:noFill/>
        </p:spPr>
        <p:txBody>
          <a:bodyPr wrap="square" lIns="36576" tIns="27432" rIns="36576" bIns="27432">
            <a:spAutoFit/>
          </a:bodyPr>
          <a:lstStyle/>
          <a:p>
            <a:pPr algn="l">
              <a:lnSpc>
                <a:spcPct val="112000"/>
              </a:lnSpc>
              <a:spcAft>
                <a:spcPts val="900"/>
              </a:spcAft>
            </a:pPr>
            <a:r>
              <a:rPr sz="2100" b="0">
                <a:solidFill>
                  <a:srgbClr val="030F7D"/>
                </a:solidFill>
                <a:latin typeface="Poppins"/>
                <a:hlinkClick r:id="rId4"/>
              </a:rPr>
              <a:t>Open GitHub Actions run 38173380800</a:t>
            </a:r>
          </a:p>
        </p:txBody>
      </p:sp>
      <p:sp>
        <p:nvSpPr>
          <p:cNvPr id="19" name="Project text"/>
          <p:cNvSpPr txBox="1"/>
          <p:nvPr/>
        </p:nvSpPr>
        <p:spPr>
          <a:xfrm>
            <a:off x="1097280" y="8138160"/>
            <a:ext cx="16002000" cy="822960"/>
          </a:xfrm>
          <a:prstGeom prst="rect">
            <a:avLst/>
          </a:prstGeom>
          <a:noFill/>
        </p:spPr>
        <p:txBody>
          <a:bodyPr wrap="square" lIns="36576" tIns="27432" rIns="36576" bIns="27432">
            <a:spAutoFit/>
          </a:bodyPr>
          <a:lstStyle/>
          <a:p>
            <a:pPr algn="l">
              <a:lnSpc>
                <a:spcPct val="112000"/>
              </a:lnSpc>
              <a:spcAft>
                <a:spcPts val="900"/>
              </a:spcAft>
            </a:pPr>
            <a:r>
              <a:rPr sz="2400" b="0">
                <a:solidFill>
                  <a:srgbClr val="202329"/>
                </a:solidFill>
                <a:latin typeface="Poppins"/>
              </a:rPr>
              <a:t>Same tested source commit: 9fea51a  |  OIDC login + limited roles  |  Immutable image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a:solidFill>
                  <a:srgbClr val="FFDC51"/>
                </a:solidFill>
                <a:latin typeface="League Spartan"/>
                <a:ea typeface="League Spartan"/>
                <a:cs typeface="League Spartan"/>
                <a:sym typeface="League Spartan"/>
              </a:rPr>
              <a:t>THE API WORKS;</a:t>
            </a:r>
          </a:p>
          <a:p>
            <a:pPr>
              <a:lnSpc>
                <a:spcPct val="102000"/>
              </a:lnSpc>
              <a:spcAft>
                <a:spcPts val="0"/>
              </a:spcAft>
            </a:pPr>
            <a:r>
              <a:rPr lang="en-US" sz="5000">
                <a:solidFill>
                  <a:srgbClr val="FFDC51"/>
                </a:solidFill>
                <a:latin typeface="League Spartan"/>
                <a:ea typeface="League Spartan"/>
                <a:cs typeface="League Spartan"/>
                <a:sym typeface="League Spartan"/>
              </a:rPr>
              <a:t>CLOUD LATENCY MISSES OUR TARGET</a:t>
            </a:r>
          </a:p>
        </p:txBody>
      </p:sp>
      <p:sp>
        <p:nvSpPr>
          <p:cNvPr id="10"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8</a:t>
            </a:r>
          </a:p>
        </p:txBody>
      </p:sp>
      <p:sp>
        <p:nvSpPr>
          <p:cNvPr id="11"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reports/serving-recheck/local-load.json; azure-load.json; pooled-load.json; finish-cold.json</a:t>
            </a:r>
          </a:p>
        </p:txBody>
      </p:sp>
      <p:pic>
        <p:nvPicPr>
          <p:cNvPr id="12" name="Picture 11" descr="warm-latency.png"/>
          <p:cNvPicPr>
            <a:picLocks noChangeAspect="1"/>
          </p:cNvPicPr>
          <p:nvPr/>
        </p:nvPicPr>
        <p:blipFill>
          <a:blip r:embed="rId3"/>
          <a:stretch>
            <a:fillRect/>
          </a:stretch>
        </p:blipFill>
        <p:spPr>
          <a:xfrm>
            <a:off x="914400" y="3360420"/>
            <a:ext cx="10789920" cy="5394960"/>
          </a:xfrm>
          <a:prstGeom prst="rect">
            <a:avLst/>
          </a:prstGeom>
        </p:spPr>
      </p:pic>
      <p:sp>
        <p:nvSpPr>
          <p:cNvPr id="13" name="Project panel"/>
          <p:cNvSpPr/>
          <p:nvPr/>
        </p:nvSpPr>
        <p:spPr>
          <a:xfrm>
            <a:off x="12024360" y="3291840"/>
            <a:ext cx="5029200" cy="265176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roject text"/>
          <p:cNvSpPr txBox="1"/>
          <p:nvPr/>
        </p:nvSpPr>
        <p:spPr>
          <a:xfrm>
            <a:off x="12225528" y="3474720"/>
            <a:ext cx="46268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06783"/>
                </a:solidFill>
                <a:latin typeface="Poppins"/>
              </a:rPr>
              <a:t>WARM TEST</a:t>
            </a:r>
          </a:p>
        </p:txBody>
      </p:sp>
      <p:sp>
        <p:nvSpPr>
          <p:cNvPr id="15" name="Project text"/>
          <p:cNvSpPr txBox="1"/>
          <p:nvPr/>
        </p:nvSpPr>
        <p:spPr>
          <a:xfrm>
            <a:off x="12225528" y="4206240"/>
            <a:ext cx="4626864" cy="1600200"/>
          </a:xfrm>
          <a:prstGeom prst="rect">
            <a:avLst/>
          </a:prstGeom>
          <a:noFill/>
        </p:spPr>
        <p:txBody>
          <a:bodyPr wrap="square" lIns="36576" tIns="27432" rIns="36576" bIns="27432">
            <a:spAutoFit/>
          </a:bodyPr>
          <a:lstStyle/>
          <a:p>
            <a:pPr algn="l">
              <a:lnSpc>
                <a:spcPct val="112000"/>
              </a:lnSpc>
              <a:spcAft>
                <a:spcPts val="900"/>
              </a:spcAft>
            </a:pPr>
            <a:r>
              <a:rPr sz="2200" b="0">
                <a:solidFill>
                  <a:srgbClr val="202329"/>
                </a:solidFill>
                <a:latin typeface="Poppins"/>
              </a:rPr>
              <a:t>200 requests</a:t>
            </a:r>
          </a:p>
          <a:p>
            <a:pPr algn="l">
              <a:lnSpc>
                <a:spcPct val="112000"/>
              </a:lnSpc>
              <a:spcAft>
                <a:spcPts val="900"/>
              </a:spcAft>
            </a:pPr>
            <a:r>
              <a:rPr sz="2200" b="0">
                <a:solidFill>
                  <a:srgbClr val="202329"/>
                </a:solidFill>
                <a:latin typeface="Poppins"/>
              </a:rPr>
              <a:t>Concurrency: 10</a:t>
            </a:r>
          </a:p>
          <a:p>
            <a:pPr algn="l">
              <a:lnSpc>
                <a:spcPct val="112000"/>
              </a:lnSpc>
              <a:spcAft>
                <a:spcPts val="900"/>
              </a:spcAft>
            </a:pPr>
            <a:r>
              <a:rPr sz="2200" b="0">
                <a:solidFill>
                  <a:srgbClr val="202329"/>
                </a:solidFill>
                <a:latin typeface="Poppins"/>
              </a:rPr>
              <a:t>Errors: 0 in all runs</a:t>
            </a:r>
          </a:p>
        </p:txBody>
      </p:sp>
      <p:sp>
        <p:nvSpPr>
          <p:cNvPr id="16" name="Project panel"/>
          <p:cNvSpPr/>
          <p:nvPr/>
        </p:nvSpPr>
        <p:spPr>
          <a:xfrm>
            <a:off x="12024360" y="6355080"/>
            <a:ext cx="5029200" cy="256032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Project text"/>
          <p:cNvSpPr txBox="1"/>
          <p:nvPr/>
        </p:nvSpPr>
        <p:spPr>
          <a:xfrm>
            <a:off x="12225528" y="6537960"/>
            <a:ext cx="46268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96527E"/>
                </a:solidFill>
                <a:latin typeface="Poppins"/>
              </a:rPr>
              <a:t>COLD REQUEST</a:t>
            </a:r>
          </a:p>
        </p:txBody>
      </p:sp>
      <p:sp>
        <p:nvSpPr>
          <p:cNvPr id="18" name="Project text"/>
          <p:cNvSpPr txBox="1"/>
          <p:nvPr/>
        </p:nvSpPr>
        <p:spPr>
          <a:xfrm>
            <a:off x="12225528" y="7269480"/>
            <a:ext cx="4626864" cy="1508760"/>
          </a:xfrm>
          <a:prstGeom prst="rect">
            <a:avLst/>
          </a:prstGeom>
          <a:noFill/>
        </p:spPr>
        <p:txBody>
          <a:bodyPr wrap="square" lIns="36576" tIns="27432" rIns="36576" bIns="27432">
            <a:spAutoFit/>
          </a:bodyPr>
          <a:lstStyle/>
          <a:p>
            <a:pPr algn="l">
              <a:lnSpc>
                <a:spcPct val="112000"/>
              </a:lnSpc>
              <a:spcAft>
                <a:spcPts val="900"/>
              </a:spcAft>
            </a:pPr>
            <a:r>
              <a:rPr sz="2200" b="0">
                <a:solidFill>
                  <a:srgbClr val="202329"/>
                </a:solidFill>
                <a:latin typeface="Poppins"/>
              </a:rPr>
              <a:t>3.82 seconds</a:t>
            </a:r>
          </a:p>
          <a:p>
            <a:pPr algn="l">
              <a:lnSpc>
                <a:spcPct val="112000"/>
              </a:lnSpc>
              <a:spcAft>
                <a:spcPts val="900"/>
              </a:spcAft>
            </a:pPr>
            <a:r>
              <a:rPr sz="2200" b="0">
                <a:solidFill>
                  <a:srgbClr val="202329"/>
                </a:solidFill>
                <a:latin typeface="Poppins"/>
              </a:rPr>
              <a:t>After verified zero replicas</a:t>
            </a:r>
          </a:p>
          <a:p>
            <a:pPr algn="l">
              <a:lnSpc>
                <a:spcPct val="112000"/>
              </a:lnSpc>
              <a:spcAft>
                <a:spcPts val="900"/>
              </a:spcAft>
            </a:pPr>
            <a:r>
              <a:rPr sz="2200" b="0">
                <a:solidFill>
                  <a:srgbClr val="202329"/>
                </a:solidFill>
                <a:latin typeface="Poppins"/>
              </a:rPr>
              <a:t>One WSL HTTPS sample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a:solidFill>
                  <a:srgbClr val="FFDC51"/>
                </a:solidFill>
                <a:latin typeface="League Spartan"/>
                <a:ea typeface="League Spartan"/>
                <a:cs typeface="League Spartan"/>
                <a:sym typeface="League Spartan"/>
              </a:rPr>
              <a:t>MONITOR REQUESTS</a:t>
            </a:r>
          </a:p>
          <a:p>
            <a:pPr>
              <a:lnSpc>
                <a:spcPct val="102000"/>
              </a:lnSpc>
              <a:spcAft>
                <a:spcPts val="0"/>
              </a:spcAft>
            </a:pPr>
            <a:r>
              <a:rPr lang="en-US" sz="5000">
                <a:solidFill>
                  <a:srgbClr val="FFDC51"/>
                </a:solidFill>
                <a:latin typeface="League Spartan"/>
                <a:ea typeface="League Spartan"/>
                <a:cs typeface="League Spartan"/>
                <a:sym typeface="League Spartan"/>
              </a:rPr>
              <a:t>AND CHECK PREDICTION MEANING</a:t>
            </a:r>
          </a:p>
        </p:txBody>
      </p:sp>
      <p:sp>
        <p:nvSpPr>
          <p:cNvPr id="9"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9</a:t>
            </a:r>
          </a:p>
        </p:txBody>
      </p:sp>
      <p:sp>
        <p:nvSpPr>
          <p:cNvPr id="10"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reports/azure-telemetry.json; finish-monitor.json; finish-alert.json</a:t>
            </a:r>
          </a:p>
        </p:txBody>
      </p:sp>
      <p:pic>
        <p:nvPicPr>
          <p:cNvPr id="11" name="Picture 10" descr="monitor-logs.png"/>
          <p:cNvPicPr>
            <a:picLocks noChangeAspect="1"/>
          </p:cNvPicPr>
          <p:nvPr/>
        </p:nvPicPr>
        <p:blipFill>
          <a:blip r:embed="rId3"/>
          <a:stretch>
            <a:fillRect/>
          </a:stretch>
        </p:blipFill>
        <p:spPr>
          <a:xfrm>
            <a:off x="914400" y="3455185"/>
            <a:ext cx="10789920" cy="5296869"/>
          </a:xfrm>
          <a:prstGeom prst="rect">
            <a:avLst/>
          </a:prstGeom>
        </p:spPr>
      </p:pic>
      <p:sp>
        <p:nvSpPr>
          <p:cNvPr id="12" name="Project panel"/>
          <p:cNvSpPr/>
          <p:nvPr/>
        </p:nvSpPr>
        <p:spPr>
          <a:xfrm>
            <a:off x="12024360" y="3291840"/>
            <a:ext cx="5029200" cy="274320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Project text"/>
          <p:cNvSpPr txBox="1"/>
          <p:nvPr/>
        </p:nvSpPr>
        <p:spPr>
          <a:xfrm>
            <a:off x="12225528" y="3474720"/>
            <a:ext cx="46268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06783"/>
                </a:solidFill>
                <a:latin typeface="Poppins"/>
              </a:rPr>
              <a:t>DASHBOARD</a:t>
            </a:r>
          </a:p>
        </p:txBody>
      </p:sp>
      <p:sp>
        <p:nvSpPr>
          <p:cNvPr id="14" name="Project text"/>
          <p:cNvSpPr txBox="1"/>
          <p:nvPr/>
        </p:nvSpPr>
        <p:spPr>
          <a:xfrm>
            <a:off x="12225528" y="4206240"/>
            <a:ext cx="4626864" cy="1691640"/>
          </a:xfrm>
          <a:prstGeom prst="rect">
            <a:avLst/>
          </a:prstGeom>
          <a:noFill/>
        </p:spPr>
        <p:txBody>
          <a:bodyPr wrap="square" lIns="36576" tIns="27432" rIns="36576" bIns="27432">
            <a:spAutoFit/>
          </a:bodyPr>
          <a:lstStyle/>
          <a:p>
            <a:pPr algn="l">
              <a:lnSpc>
                <a:spcPct val="112000"/>
              </a:lnSpc>
              <a:spcAft>
                <a:spcPts val="900"/>
              </a:spcAft>
            </a:pPr>
            <a:r>
              <a:rPr sz="2200" b="0">
                <a:solidFill>
                  <a:srgbClr val="202329"/>
                </a:solidFill>
                <a:latin typeface="Poppins"/>
              </a:rPr>
              <a:t>MLOP Travel Style</a:t>
            </a:r>
          </a:p>
          <a:p>
            <a:pPr algn="l">
              <a:lnSpc>
                <a:spcPct val="112000"/>
              </a:lnSpc>
              <a:spcAft>
                <a:spcPts val="900"/>
              </a:spcAft>
            </a:pPr>
            <a:r>
              <a:rPr sz="2200" b="0">
                <a:solidFill>
                  <a:srgbClr val="202329"/>
                </a:solidFill>
                <a:latin typeface="Poppins"/>
              </a:rPr>
              <a:t>Requests, errors, latency</a:t>
            </a:r>
          </a:p>
          <a:p>
            <a:pPr algn="l">
              <a:lnSpc>
                <a:spcPct val="112000"/>
              </a:lnSpc>
              <a:spcAft>
                <a:spcPts val="900"/>
              </a:spcAft>
            </a:pPr>
            <a:r>
              <a:rPr sz="2200" b="0">
                <a:solidFill>
                  <a:srgbClr val="202329"/>
                </a:solidFill>
                <a:latin typeface="Poppins"/>
              </a:rPr>
              <a:t>Model version in logs</a:t>
            </a:r>
          </a:p>
        </p:txBody>
      </p:sp>
      <p:sp>
        <p:nvSpPr>
          <p:cNvPr id="15" name="Project panel"/>
          <p:cNvSpPr/>
          <p:nvPr/>
        </p:nvSpPr>
        <p:spPr>
          <a:xfrm>
            <a:off x="12024360" y="6309360"/>
            <a:ext cx="5029200" cy="26060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roject text"/>
          <p:cNvSpPr txBox="1"/>
          <p:nvPr/>
        </p:nvSpPr>
        <p:spPr>
          <a:xfrm>
            <a:off x="12225528" y="6492240"/>
            <a:ext cx="46268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96527E"/>
                </a:solidFill>
                <a:latin typeface="Poppins"/>
              </a:rPr>
              <a:t>ACTUAL ALERT</a:t>
            </a:r>
          </a:p>
        </p:txBody>
      </p:sp>
      <p:sp>
        <p:nvSpPr>
          <p:cNvPr id="17" name="Project text"/>
          <p:cNvSpPr txBox="1"/>
          <p:nvPr/>
        </p:nvSpPr>
        <p:spPr>
          <a:xfrm>
            <a:off x="12225528" y="7223760"/>
            <a:ext cx="4626864" cy="1554480"/>
          </a:xfrm>
          <a:prstGeom prst="rect">
            <a:avLst/>
          </a:prstGeom>
          <a:noFill/>
        </p:spPr>
        <p:txBody>
          <a:bodyPr wrap="square" lIns="36576" tIns="27432" rIns="36576" bIns="27432">
            <a:spAutoFit/>
          </a:bodyPr>
          <a:lstStyle/>
          <a:p>
            <a:pPr algn="l">
              <a:lnSpc>
                <a:spcPct val="112000"/>
              </a:lnSpc>
              <a:spcAft>
                <a:spcPts val="900"/>
              </a:spcAft>
            </a:pPr>
            <a:r>
              <a:rPr sz="2200" b="0">
                <a:solidFill>
                  <a:srgbClr val="202329"/>
                </a:solidFill>
                <a:latin typeface="Poppins"/>
              </a:rPr>
              <a:t>Semantic failure detected</a:t>
            </a:r>
          </a:p>
          <a:p>
            <a:pPr algn="l">
              <a:lnSpc>
                <a:spcPct val="112000"/>
              </a:lnSpc>
              <a:spcAft>
                <a:spcPts val="900"/>
              </a:spcAft>
            </a:pPr>
            <a:r>
              <a:rPr sz="2200" b="0">
                <a:solidFill>
                  <a:srgbClr val="202329"/>
                </a:solidFill>
                <a:latin typeface="Poppins"/>
              </a:rPr>
              <a:t>Alert fired, then resolved</a:t>
            </a:r>
          </a:p>
          <a:p>
            <a:pPr algn="l">
              <a:lnSpc>
                <a:spcPct val="112000"/>
              </a:lnSpc>
              <a:spcAft>
                <a:spcPts val="900"/>
              </a:spcAft>
            </a:pPr>
            <a:r>
              <a:rPr sz="2200" b="0">
                <a:solidFill>
                  <a:srgbClr val="202329"/>
                </a:solidFill>
                <a:latin typeface="Poppins"/>
              </a:rPr>
              <a:t>Email is not configured</a:t>
            </a:r>
          </a:p>
        </p:txBody>
      </p:sp>
      <p:sp>
        <p:nvSpPr>
          <p:cNvPr id="18" name="Project text"/>
          <p:cNvSpPr txBox="1"/>
          <p:nvPr/>
        </p:nvSpPr>
        <p:spPr>
          <a:xfrm>
            <a:off x="1417320" y="9070848"/>
            <a:ext cx="15270480" cy="320040"/>
          </a:xfrm>
          <a:prstGeom prst="rect">
            <a:avLst/>
          </a:prstGeom>
          <a:noFill/>
        </p:spPr>
        <p:txBody>
          <a:bodyPr wrap="square" lIns="36576" tIns="27432" rIns="36576" bIns="27432">
            <a:spAutoFit/>
          </a:bodyPr>
          <a:lstStyle/>
          <a:p>
            <a:pPr algn="l">
              <a:lnSpc>
                <a:spcPct val="112000"/>
              </a:lnSpc>
              <a:spcAft>
                <a:spcPts val="900"/>
              </a:spcAft>
            </a:pPr>
            <a:r>
              <a:rPr sz="1600" b="0">
                <a:solidFill>
                  <a:srgbClr val="647080"/>
                </a:solidFill>
                <a:latin typeface="Poppins"/>
              </a:rPr>
              <a:t>Saved Log Analytics results; application timing, not client HTTPS latency.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a:solidFill>
                  <a:srgbClr val="FFDC51"/>
                </a:solidFill>
                <a:latin typeface="League Spartan"/>
                <a:ea typeface="League Spartan"/>
                <a:cs typeface="League Spartan"/>
                <a:sym typeface="League Spartan"/>
              </a:rPr>
              <a:t>A WRONG SEGMENT MAPPING</a:t>
            </a:r>
          </a:p>
          <a:p>
            <a:pPr>
              <a:lnSpc>
                <a:spcPct val="102000"/>
              </a:lnSpc>
              <a:spcAft>
                <a:spcPts val="0"/>
              </a:spcAft>
            </a:pPr>
            <a:r>
              <a:rPr lang="en-US" sz="5000">
                <a:solidFill>
                  <a:srgbClr val="FFDC51"/>
                </a:solidFill>
                <a:latin typeface="League Spartan"/>
                <a:ea typeface="League Spartan"/>
                <a:cs typeface="League Spartan"/>
                <a:sym typeface="League Spartan"/>
              </a:rPr>
              <a:t>TRIGGERED DETECTION AND RECOVERY</a:t>
            </a:r>
          </a:p>
        </p:txBody>
      </p:sp>
      <p:sp>
        <p:nvSpPr>
          <p:cNvPr id="8"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10</a:t>
            </a:r>
          </a:p>
        </p:txBody>
      </p:sp>
      <p:sp>
        <p:nvSpPr>
          <p:cNvPr id="9"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reports/finish-failure.json; finish-alert.json; tests/test_api.py</a:t>
            </a:r>
          </a:p>
        </p:txBody>
      </p:sp>
      <p:sp>
        <p:nvSpPr>
          <p:cNvPr id="10" name="Project text"/>
          <p:cNvSpPr txBox="1"/>
          <p:nvPr/>
        </p:nvSpPr>
        <p:spPr>
          <a:xfrm>
            <a:off x="1051560" y="3063240"/>
            <a:ext cx="16002000" cy="777240"/>
          </a:xfrm>
          <a:prstGeom prst="rect">
            <a:avLst/>
          </a:prstGeom>
          <a:noFill/>
        </p:spPr>
        <p:txBody>
          <a:bodyPr wrap="square" lIns="36576" tIns="27432" rIns="36576" bIns="27432">
            <a:spAutoFit/>
          </a:bodyPr>
          <a:lstStyle/>
          <a:p>
            <a:pPr algn="l">
              <a:lnSpc>
                <a:spcPct val="112000"/>
              </a:lnSpc>
              <a:spcAft>
                <a:spcPts val="900"/>
              </a:spcAft>
            </a:pPr>
            <a:r>
              <a:rPr sz="2600" b="0">
                <a:solidFill>
                  <a:srgbClr val="202329"/>
                </a:solidFill>
                <a:latin typeface="Poppins"/>
              </a:rPr>
              <a:t>Controlled fault in the separate staging app: wrong cluster-to-segment mapping.</a:t>
            </a:r>
          </a:p>
        </p:txBody>
      </p:sp>
      <p:sp>
        <p:nvSpPr>
          <p:cNvPr id="11" name="Project panel"/>
          <p:cNvSpPr/>
          <p:nvPr/>
        </p:nvSpPr>
        <p:spPr>
          <a:xfrm>
            <a:off x="1097280" y="4251960"/>
            <a:ext cx="3749039" cy="265176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roject text"/>
          <p:cNvSpPr txBox="1"/>
          <p:nvPr/>
        </p:nvSpPr>
        <p:spPr>
          <a:xfrm>
            <a:off x="1298448" y="4434840"/>
            <a:ext cx="3346703"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06783"/>
                </a:solidFill>
                <a:latin typeface="Poppins"/>
              </a:rPr>
              <a:t>INJECT</a:t>
            </a:r>
          </a:p>
        </p:txBody>
      </p:sp>
      <p:sp>
        <p:nvSpPr>
          <p:cNvPr id="13" name="Project text"/>
          <p:cNvSpPr txBox="1"/>
          <p:nvPr/>
        </p:nvSpPr>
        <p:spPr>
          <a:xfrm>
            <a:off x="1298448" y="5166360"/>
            <a:ext cx="3346703" cy="1600200"/>
          </a:xfrm>
          <a:prstGeom prst="rect">
            <a:avLst/>
          </a:prstGeom>
          <a:noFill/>
        </p:spPr>
        <p:txBody>
          <a:bodyPr wrap="square" lIns="36576" tIns="27432" rIns="36576" bIns="27432">
            <a:spAutoFit/>
          </a:bodyPr>
          <a:lstStyle/>
          <a:p>
            <a:pPr algn="l">
              <a:lnSpc>
                <a:spcPct val="112000"/>
              </a:lnSpc>
              <a:spcAft>
                <a:spcPts val="900"/>
              </a:spcAft>
            </a:pPr>
            <a:r>
              <a:rPr sz="2100" b="0">
                <a:solidFill>
                  <a:srgbClr val="202329"/>
                </a:solidFill>
                <a:latin typeface="Poppins"/>
              </a:rPr>
              <a:t>16:54:22 UTC</a:t>
            </a:r>
          </a:p>
          <a:p>
            <a:pPr algn="l">
              <a:lnSpc>
                <a:spcPct val="112000"/>
              </a:lnSpc>
              <a:spcAft>
                <a:spcPts val="900"/>
              </a:spcAft>
            </a:pPr>
            <a:r>
              <a:rPr sz="2100" b="0">
                <a:solidFill>
                  <a:srgbClr val="202329"/>
                </a:solidFill>
                <a:latin typeface="Poppins"/>
              </a:rPr>
              <a:t>Wrong mapping</a:t>
            </a:r>
          </a:p>
        </p:txBody>
      </p:sp>
      <p:sp>
        <p:nvSpPr>
          <p:cNvPr id="14" name="Right Arrow 13"/>
          <p:cNvSpPr/>
          <p:nvPr/>
        </p:nvSpPr>
        <p:spPr>
          <a:xfrm>
            <a:off x="4873752" y="5349240"/>
            <a:ext cx="256032" cy="274320"/>
          </a:xfrm>
          <a:prstGeom prst="rightArrow">
            <a:avLst/>
          </a:prstGeom>
          <a:solidFill>
            <a:srgbClr val="2067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roject panel"/>
          <p:cNvSpPr/>
          <p:nvPr/>
        </p:nvSpPr>
        <p:spPr>
          <a:xfrm>
            <a:off x="5193792" y="4251960"/>
            <a:ext cx="3749039" cy="265176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roject text"/>
          <p:cNvSpPr txBox="1"/>
          <p:nvPr/>
        </p:nvSpPr>
        <p:spPr>
          <a:xfrm>
            <a:off x="5394960" y="4434840"/>
            <a:ext cx="3346703"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C53A43"/>
                </a:solidFill>
                <a:latin typeface="Poppins"/>
              </a:rPr>
              <a:t>DETECT</a:t>
            </a:r>
          </a:p>
        </p:txBody>
      </p:sp>
      <p:sp>
        <p:nvSpPr>
          <p:cNvPr id="17" name="Project text"/>
          <p:cNvSpPr txBox="1"/>
          <p:nvPr/>
        </p:nvSpPr>
        <p:spPr>
          <a:xfrm>
            <a:off x="5394960" y="5166360"/>
            <a:ext cx="3346703" cy="1600200"/>
          </a:xfrm>
          <a:prstGeom prst="rect">
            <a:avLst/>
          </a:prstGeom>
          <a:noFill/>
        </p:spPr>
        <p:txBody>
          <a:bodyPr wrap="square" lIns="36576" tIns="27432" rIns="36576" bIns="27432">
            <a:spAutoFit/>
          </a:bodyPr>
          <a:lstStyle/>
          <a:p>
            <a:pPr algn="l">
              <a:lnSpc>
                <a:spcPct val="112000"/>
              </a:lnSpc>
              <a:spcAft>
                <a:spcPts val="900"/>
              </a:spcAft>
            </a:pPr>
            <a:r>
              <a:rPr sz="2100" b="0">
                <a:solidFill>
                  <a:srgbClr val="202329"/>
                </a:solidFill>
                <a:latin typeface="Poppins"/>
              </a:rPr>
              <a:t>16:54:52 UTC</a:t>
            </a:r>
          </a:p>
          <a:p>
            <a:pPr algn="l">
              <a:lnSpc>
                <a:spcPct val="112000"/>
              </a:lnSpc>
              <a:spcAft>
                <a:spcPts val="900"/>
              </a:spcAft>
            </a:pPr>
            <a:r>
              <a:rPr sz="2100" b="0">
                <a:solidFill>
                  <a:srgbClr val="202329"/>
                </a:solidFill>
                <a:latin typeface="Poppins"/>
              </a:rPr>
              <a:t>Canary: 503</a:t>
            </a:r>
          </a:p>
        </p:txBody>
      </p:sp>
      <p:sp>
        <p:nvSpPr>
          <p:cNvPr id="18" name="Right Arrow 17"/>
          <p:cNvSpPr/>
          <p:nvPr/>
        </p:nvSpPr>
        <p:spPr>
          <a:xfrm>
            <a:off x="8970264" y="5349240"/>
            <a:ext cx="256032" cy="274320"/>
          </a:xfrm>
          <a:prstGeom prst="rightArrow">
            <a:avLst/>
          </a:prstGeom>
          <a:solidFill>
            <a:srgbClr val="2067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roject panel"/>
          <p:cNvSpPr/>
          <p:nvPr/>
        </p:nvSpPr>
        <p:spPr>
          <a:xfrm>
            <a:off x="9290304" y="4251960"/>
            <a:ext cx="3749039" cy="265176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Project text"/>
          <p:cNvSpPr txBox="1"/>
          <p:nvPr/>
        </p:nvSpPr>
        <p:spPr>
          <a:xfrm>
            <a:off x="9491472" y="4434840"/>
            <a:ext cx="3346703"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96527E"/>
                </a:solidFill>
                <a:latin typeface="Poppins"/>
              </a:rPr>
              <a:t>ALERT</a:t>
            </a:r>
          </a:p>
        </p:txBody>
      </p:sp>
      <p:sp>
        <p:nvSpPr>
          <p:cNvPr id="21" name="Project text"/>
          <p:cNvSpPr txBox="1"/>
          <p:nvPr/>
        </p:nvSpPr>
        <p:spPr>
          <a:xfrm>
            <a:off x="9491472" y="5166360"/>
            <a:ext cx="3346703" cy="1600200"/>
          </a:xfrm>
          <a:prstGeom prst="rect">
            <a:avLst/>
          </a:prstGeom>
          <a:noFill/>
        </p:spPr>
        <p:txBody>
          <a:bodyPr wrap="square" lIns="36576" tIns="27432" rIns="36576" bIns="27432">
            <a:spAutoFit/>
          </a:bodyPr>
          <a:lstStyle/>
          <a:p>
            <a:pPr algn="l">
              <a:lnSpc>
                <a:spcPct val="112000"/>
              </a:lnSpc>
              <a:spcAft>
                <a:spcPts val="900"/>
              </a:spcAft>
            </a:pPr>
            <a:r>
              <a:rPr sz="2100" b="0">
                <a:solidFill>
                  <a:srgbClr val="202329"/>
                </a:solidFill>
                <a:latin typeface="Poppins"/>
              </a:rPr>
              <a:t>16:56:39 UTC</a:t>
            </a:r>
          </a:p>
          <a:p>
            <a:pPr algn="l">
              <a:lnSpc>
                <a:spcPct val="112000"/>
              </a:lnSpc>
              <a:spcAft>
                <a:spcPts val="900"/>
              </a:spcAft>
            </a:pPr>
            <a:r>
              <a:rPr sz="2100" b="0">
                <a:solidFill>
                  <a:srgbClr val="202329"/>
                </a:solidFill>
                <a:latin typeface="Poppins"/>
              </a:rPr>
              <a:t>Actual alert fired</a:t>
            </a:r>
          </a:p>
        </p:txBody>
      </p:sp>
      <p:sp>
        <p:nvSpPr>
          <p:cNvPr id="22" name="Right Arrow 21"/>
          <p:cNvSpPr/>
          <p:nvPr/>
        </p:nvSpPr>
        <p:spPr>
          <a:xfrm>
            <a:off x="13066776" y="5349240"/>
            <a:ext cx="256032" cy="274320"/>
          </a:xfrm>
          <a:prstGeom prst="rightArrow">
            <a:avLst/>
          </a:prstGeom>
          <a:solidFill>
            <a:srgbClr val="2067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Project panel"/>
          <p:cNvSpPr/>
          <p:nvPr/>
        </p:nvSpPr>
        <p:spPr>
          <a:xfrm>
            <a:off x="13386816" y="4251960"/>
            <a:ext cx="3749039" cy="265176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Project text"/>
          <p:cNvSpPr txBox="1"/>
          <p:nvPr/>
        </p:nvSpPr>
        <p:spPr>
          <a:xfrm>
            <a:off x="13587984" y="4434840"/>
            <a:ext cx="3346703"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3755B"/>
                </a:solidFill>
                <a:latin typeface="Poppins"/>
              </a:rPr>
              <a:t>RECOVER</a:t>
            </a:r>
          </a:p>
        </p:txBody>
      </p:sp>
      <p:sp>
        <p:nvSpPr>
          <p:cNvPr id="25" name="Project text"/>
          <p:cNvSpPr txBox="1"/>
          <p:nvPr/>
        </p:nvSpPr>
        <p:spPr>
          <a:xfrm>
            <a:off x="13587984" y="5166360"/>
            <a:ext cx="3346703" cy="1600200"/>
          </a:xfrm>
          <a:prstGeom prst="rect">
            <a:avLst/>
          </a:prstGeom>
          <a:noFill/>
        </p:spPr>
        <p:txBody>
          <a:bodyPr wrap="square" lIns="36576" tIns="27432" rIns="36576" bIns="27432">
            <a:spAutoFit/>
          </a:bodyPr>
          <a:lstStyle/>
          <a:p>
            <a:pPr algn="l">
              <a:lnSpc>
                <a:spcPct val="112000"/>
              </a:lnSpc>
              <a:spcAft>
                <a:spcPts val="900"/>
              </a:spcAft>
            </a:pPr>
            <a:r>
              <a:rPr sz="2100" b="0">
                <a:solidFill>
                  <a:srgbClr val="202329"/>
                </a:solidFill>
                <a:latin typeface="Poppins"/>
              </a:rPr>
              <a:t>17:02:08 UTC</a:t>
            </a:r>
          </a:p>
          <a:p>
            <a:pPr algn="l">
              <a:lnSpc>
                <a:spcPct val="112000"/>
              </a:lnSpc>
              <a:spcAft>
                <a:spcPts val="900"/>
              </a:spcAft>
            </a:pPr>
            <a:r>
              <a:rPr sz="2100" b="0">
                <a:solidFill>
                  <a:srgbClr val="202329"/>
                </a:solidFill>
                <a:latin typeface="Poppins"/>
              </a:rPr>
              <a:t>Canary: 200</a:t>
            </a:r>
          </a:p>
        </p:txBody>
      </p:sp>
      <p:sp>
        <p:nvSpPr>
          <p:cNvPr id="26" name="Project text"/>
          <p:cNvSpPr txBox="1"/>
          <p:nvPr/>
        </p:nvSpPr>
        <p:spPr>
          <a:xfrm>
            <a:off x="1097280" y="7360920"/>
            <a:ext cx="16002000" cy="731520"/>
          </a:xfrm>
          <a:prstGeom prst="rect">
            <a:avLst/>
          </a:prstGeom>
          <a:noFill/>
        </p:spPr>
        <p:txBody>
          <a:bodyPr wrap="square" lIns="36576" tIns="27432" rIns="36576" bIns="27432">
            <a:spAutoFit/>
          </a:bodyPr>
          <a:lstStyle/>
          <a:p>
            <a:pPr algn="l">
              <a:lnSpc>
                <a:spcPct val="112000"/>
              </a:lnSpc>
              <a:spcAft>
                <a:spcPts val="900"/>
              </a:spcAft>
            </a:pPr>
            <a:r>
              <a:rPr sz="2500" b="0">
                <a:solidFill>
                  <a:srgbClr val="C53A43"/>
                </a:solidFill>
                <a:latin typeface="Poppins"/>
              </a:rPr>
              <a:t>Detection to confirmed recovery: 7 min 16.4 sec, including the failed first recovery attempt.</a:t>
            </a:r>
          </a:p>
        </p:txBody>
      </p:sp>
      <p:sp>
        <p:nvSpPr>
          <p:cNvPr id="27" name="Project text"/>
          <p:cNvSpPr txBox="1"/>
          <p:nvPr/>
        </p:nvSpPr>
        <p:spPr>
          <a:xfrm>
            <a:off x="1097280" y="8257031"/>
            <a:ext cx="16002000" cy="914400"/>
          </a:xfrm>
          <a:prstGeom prst="rect">
            <a:avLst/>
          </a:prstGeom>
          <a:noFill/>
        </p:spPr>
        <p:txBody>
          <a:bodyPr wrap="square" lIns="36576" tIns="27432" rIns="36576" bIns="27432">
            <a:spAutoFit/>
          </a:bodyPr>
          <a:lstStyle/>
          <a:p>
            <a:pPr algn="l">
              <a:lnSpc>
                <a:spcPct val="112000"/>
              </a:lnSpc>
              <a:spcAft>
                <a:spcPts val="900"/>
              </a:spcAft>
            </a:pPr>
            <a:r>
              <a:rPr sz="2200" b="0">
                <a:solidFill>
                  <a:srgbClr val="202329"/>
                </a:solidFill>
                <a:latin typeface="Poppins"/>
              </a:rPr>
              <a:t>Fix: restore config, restart staging, confirm the canary twice, and keep a regression test.</a:t>
            </a:r>
          </a:p>
          <a:p>
            <a:pPr algn="l">
              <a:lnSpc>
                <a:spcPct val="112000"/>
              </a:lnSpc>
              <a:spcAft>
                <a:spcPts val="900"/>
              </a:spcAft>
            </a:pPr>
            <a:r>
              <a:rPr sz="2200" b="0">
                <a:solidFill>
                  <a:srgbClr val="202329"/>
                </a:solidFill>
                <a:latin typeface="Poppins"/>
              </a:rPr>
              <a:t>Saved failure evidence. Arrows show event order, not equal time gaps.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b="1">
                <a:solidFill>
                  <a:srgbClr val="FFDC51"/>
                </a:solidFill>
                <a:latin typeface="League Spartan"/>
                <a:ea typeface="League Spartan"/>
                <a:cs typeface="League Spartan"/>
                <a:sym typeface="League Spartan"/>
              </a:rPr>
              <a:t>A CONTROLLED SHIFT</a:t>
            </a:r>
          </a:p>
          <a:p>
            <a:pPr>
              <a:lnSpc>
                <a:spcPct val="102000"/>
              </a:lnSpc>
              <a:spcAft>
                <a:spcPts val="0"/>
              </a:spcAft>
            </a:pPr>
            <a:r>
              <a:rPr lang="en-US" sz="5000" b="1">
                <a:solidFill>
                  <a:srgbClr val="FFDC51"/>
                </a:solidFill>
                <a:latin typeface="League Spartan"/>
                <a:ea typeface="League Spartan"/>
                <a:cs typeface="League Spartan"/>
                <a:sym typeface="League Spartan"/>
              </a:rPr>
              <a:t>IS DETECTED OFFLINE</a:t>
            </a:r>
          </a:p>
        </p:txBody>
      </p:sp>
      <p:sp>
        <p:nvSpPr>
          <p:cNvPr id="10"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11</a:t>
            </a:r>
          </a:p>
        </p:txBody>
      </p:sp>
      <p:sp>
        <p:nvSpPr>
          <p:cNvPr id="11"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reports/input-drift.json; monitoring/drift.py</a:t>
            </a:r>
          </a:p>
        </p:txBody>
      </p:sp>
      <p:pic>
        <p:nvPicPr>
          <p:cNvPr id="12" name="Picture 11" descr="controlled-drift.png"/>
          <p:cNvPicPr>
            <a:picLocks noChangeAspect="1"/>
          </p:cNvPicPr>
          <p:nvPr/>
        </p:nvPicPr>
        <p:blipFill>
          <a:blip r:embed="rId3"/>
          <a:stretch>
            <a:fillRect/>
          </a:stretch>
        </p:blipFill>
        <p:spPr>
          <a:xfrm>
            <a:off x="914400" y="3555810"/>
            <a:ext cx="10789920" cy="4958458"/>
          </a:xfrm>
          <a:prstGeom prst="rect">
            <a:avLst/>
          </a:prstGeom>
        </p:spPr>
      </p:pic>
      <p:sp>
        <p:nvSpPr>
          <p:cNvPr id="13" name="Project panel"/>
          <p:cNvSpPr/>
          <p:nvPr/>
        </p:nvSpPr>
        <p:spPr>
          <a:xfrm>
            <a:off x="12024360" y="3383280"/>
            <a:ext cx="5029200" cy="28346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roject text"/>
          <p:cNvSpPr txBox="1"/>
          <p:nvPr/>
        </p:nvSpPr>
        <p:spPr>
          <a:xfrm>
            <a:off x="12225528" y="3566160"/>
            <a:ext cx="46268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06783"/>
                </a:solidFill>
                <a:latin typeface="Poppins"/>
              </a:rPr>
              <a:t>CONTROLLED TEST</a:t>
            </a:r>
          </a:p>
        </p:txBody>
      </p:sp>
      <p:sp>
        <p:nvSpPr>
          <p:cNvPr id="15" name="Project text"/>
          <p:cNvSpPr txBox="1"/>
          <p:nvPr/>
        </p:nvSpPr>
        <p:spPr>
          <a:xfrm>
            <a:off x="12225528" y="4297680"/>
            <a:ext cx="4626864" cy="1783080"/>
          </a:xfrm>
          <a:prstGeom prst="rect">
            <a:avLst/>
          </a:prstGeom>
          <a:noFill/>
        </p:spPr>
        <p:txBody>
          <a:bodyPr wrap="square" lIns="36576" tIns="27432" rIns="36576" bIns="27432">
            <a:spAutoFit/>
          </a:bodyPr>
          <a:lstStyle/>
          <a:p>
            <a:pPr algn="l">
              <a:lnSpc>
                <a:spcPct val="112000"/>
              </a:lnSpc>
              <a:spcAft>
                <a:spcPts val="900"/>
              </a:spcAft>
            </a:pPr>
            <a:r>
              <a:rPr sz="2200" b="0">
                <a:solidFill>
                  <a:srgbClr val="202329"/>
                </a:solidFill>
                <a:latin typeface="Poppins"/>
              </a:rPr>
              <a:t>Reference: 1,908 rows</a:t>
            </a:r>
          </a:p>
          <a:p>
            <a:pPr algn="l">
              <a:lnSpc>
                <a:spcPct val="112000"/>
              </a:lnSpc>
              <a:spcAft>
                <a:spcPts val="900"/>
              </a:spcAft>
            </a:pPr>
            <a:r>
              <a:rPr sz="2200" b="0">
                <a:solidFill>
                  <a:srgbClr val="202329"/>
                </a:solidFill>
                <a:latin typeface="Poppins"/>
              </a:rPr>
              <a:t>Recent sample: 200 rows</a:t>
            </a:r>
          </a:p>
          <a:p>
            <a:pPr algn="l">
              <a:lnSpc>
                <a:spcPct val="112000"/>
              </a:lnSpc>
              <a:spcAft>
                <a:spcPts val="900"/>
              </a:spcAft>
            </a:pPr>
            <a:r>
              <a:rPr sz="2200" b="0">
                <a:solidFill>
                  <a:srgbClr val="202329"/>
                </a:solidFill>
                <a:latin typeface="Poppins"/>
              </a:rPr>
              <a:t>100 calibration rounds</a:t>
            </a:r>
          </a:p>
        </p:txBody>
      </p:sp>
      <p:sp>
        <p:nvSpPr>
          <p:cNvPr id="16" name="Project text"/>
          <p:cNvSpPr txBox="1"/>
          <p:nvPr/>
        </p:nvSpPr>
        <p:spPr>
          <a:xfrm>
            <a:off x="12207240" y="6492240"/>
            <a:ext cx="4754880" cy="2423160"/>
          </a:xfrm>
          <a:prstGeom prst="rect">
            <a:avLst/>
          </a:prstGeom>
          <a:noFill/>
        </p:spPr>
        <p:txBody>
          <a:bodyPr wrap="square" lIns="36576" tIns="27432" rIns="36576" bIns="27432">
            <a:spAutoFit/>
          </a:bodyPr>
          <a:lstStyle/>
          <a:p>
            <a:pPr algn="l">
              <a:lnSpc>
                <a:spcPct val="112000"/>
              </a:lnSpc>
              <a:spcAft>
                <a:spcPts val="900"/>
              </a:spcAft>
            </a:pPr>
            <a:r>
              <a:rPr sz="2200" b="0">
                <a:solidFill>
                  <a:srgbClr val="202329"/>
                </a:solidFill>
                <a:latin typeface="Poppins"/>
              </a:rPr>
              <a:t>Shift: +1.5 in four ratings,</a:t>
            </a:r>
          </a:p>
          <a:p>
            <a:pPr algn="l">
              <a:lnSpc>
                <a:spcPct val="112000"/>
              </a:lnSpc>
              <a:spcAft>
                <a:spcPts val="900"/>
              </a:spcAft>
            </a:pPr>
            <a:r>
              <a:rPr sz="2200" b="0">
                <a:solidFill>
                  <a:srgbClr val="202329"/>
                </a:solidFill>
                <a:latin typeface="Poppins"/>
              </a:rPr>
              <a:t>clipped to [0,5].</a:t>
            </a:r>
          </a:p>
          <a:p>
            <a:pPr algn="l">
              <a:lnSpc>
                <a:spcPct val="112000"/>
              </a:lnSpc>
              <a:spcAft>
                <a:spcPts val="900"/>
              </a:spcAft>
            </a:pPr>
            <a:endParaRPr sz="2200" b="0">
              <a:solidFill>
                <a:srgbClr val="202329"/>
              </a:solidFill>
              <a:latin typeface="Poppins"/>
            </a:endParaRPr>
          </a:p>
          <a:p>
            <a:pPr algn="l">
              <a:lnSpc>
                <a:spcPct val="112000"/>
              </a:lnSpc>
              <a:spcAft>
                <a:spcPts val="900"/>
              </a:spcAft>
            </a:pPr>
            <a:r>
              <a:rPr sz="2200" b="0">
                <a:solidFill>
                  <a:srgbClr val="202329"/>
                </a:solidFill>
                <a:latin typeface="Poppins"/>
              </a:rPr>
              <a:t>Offline input drift only.</a:t>
            </a:r>
          </a:p>
          <a:p>
            <a:pPr algn="l">
              <a:lnSpc>
                <a:spcPct val="112000"/>
              </a:lnSpc>
              <a:spcAft>
                <a:spcPts val="900"/>
              </a:spcAft>
            </a:pPr>
            <a:r>
              <a:rPr sz="2200" b="0">
                <a:solidFill>
                  <a:srgbClr val="202329"/>
                </a:solidFill>
                <a:latin typeface="Poppins"/>
              </a:rPr>
              <a:t>No concept-drift claim.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b="1">
                <a:solidFill>
                  <a:srgbClr val="FFDC51"/>
                </a:solidFill>
                <a:latin typeface="League Spartan"/>
                <a:ea typeface="League Spartan"/>
                <a:cs typeface="League Spartan"/>
                <a:sym typeface="League Spartan"/>
              </a:rPr>
              <a:t>COST PER 1,000 PREDICTIONS:</a:t>
            </a:r>
          </a:p>
          <a:p>
            <a:pPr>
              <a:lnSpc>
                <a:spcPct val="102000"/>
              </a:lnSpc>
              <a:spcAft>
                <a:spcPts val="0"/>
              </a:spcAft>
            </a:pPr>
            <a:r>
              <a:rPr lang="en-US" sz="5000" b="1">
                <a:solidFill>
                  <a:srgbClr val="FFDC51"/>
                </a:solidFill>
                <a:latin typeface="League Spartan"/>
                <a:ea typeface="League Spartan"/>
                <a:cs typeface="League Spartan"/>
                <a:sym typeface="League Spartan"/>
              </a:rPr>
              <a:t>THE ESTIMATE AND ITS LIMITS</a:t>
            </a:r>
          </a:p>
        </p:txBody>
      </p:sp>
      <p:sp>
        <p:nvSpPr>
          <p:cNvPr id="8"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12</a:t>
            </a:r>
          </a:p>
        </p:txBody>
      </p:sp>
      <p:sp>
        <p:nvSpPr>
          <p:cNvPr id="9"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reports/azure-cost-plan.json; cost-per-1000.json; docs/COST_REPORT.md</a:t>
            </a:r>
          </a:p>
        </p:txBody>
      </p:sp>
      <p:pic>
        <p:nvPicPr>
          <p:cNvPr id="10" name="Picture 9" descr="planned-cost.png"/>
          <p:cNvPicPr>
            <a:picLocks noChangeAspect="1"/>
          </p:cNvPicPr>
          <p:nvPr/>
        </p:nvPicPr>
        <p:blipFill>
          <a:blip r:embed="rId3"/>
          <a:stretch>
            <a:fillRect/>
          </a:stretch>
        </p:blipFill>
        <p:spPr>
          <a:xfrm>
            <a:off x="975360" y="3383280"/>
            <a:ext cx="10668000" cy="5120640"/>
          </a:xfrm>
          <a:prstGeom prst="rect">
            <a:avLst/>
          </a:prstGeom>
        </p:spPr>
      </p:pic>
      <p:sp>
        <p:nvSpPr>
          <p:cNvPr id="11" name="Project panel"/>
          <p:cNvSpPr/>
          <p:nvPr/>
        </p:nvSpPr>
        <p:spPr>
          <a:xfrm>
            <a:off x="12024360" y="3383280"/>
            <a:ext cx="5029200" cy="274320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roject text"/>
          <p:cNvSpPr txBox="1"/>
          <p:nvPr/>
        </p:nvSpPr>
        <p:spPr>
          <a:xfrm>
            <a:off x="12225528" y="3566160"/>
            <a:ext cx="46268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206783"/>
                </a:solidFill>
                <a:latin typeface="Poppins"/>
              </a:rPr>
              <a:t>PLANNED COST</a:t>
            </a:r>
          </a:p>
        </p:txBody>
      </p:sp>
      <p:sp>
        <p:nvSpPr>
          <p:cNvPr id="13" name="Project text"/>
          <p:cNvSpPr txBox="1"/>
          <p:nvPr/>
        </p:nvSpPr>
        <p:spPr>
          <a:xfrm>
            <a:off x="12225528" y="4297680"/>
            <a:ext cx="4626864" cy="1691640"/>
          </a:xfrm>
          <a:prstGeom prst="rect">
            <a:avLst/>
          </a:prstGeom>
          <a:noFill/>
        </p:spPr>
        <p:txBody>
          <a:bodyPr wrap="square" lIns="36576" tIns="27432" rIns="36576" bIns="27432">
            <a:spAutoFit/>
          </a:bodyPr>
          <a:lstStyle/>
          <a:p>
            <a:pPr algn="l">
              <a:lnSpc>
                <a:spcPct val="112000"/>
              </a:lnSpc>
              <a:spcAft>
                <a:spcPts val="900"/>
              </a:spcAft>
            </a:pPr>
            <a:r>
              <a:rPr sz="2200" b="0">
                <a:solidFill>
                  <a:srgbClr val="202329"/>
                </a:solidFill>
                <a:latin typeface="Poppins"/>
              </a:rPr>
              <a:t>8.89 THB / 1,000</a:t>
            </a:r>
          </a:p>
          <a:p>
            <a:pPr algn="l">
              <a:lnSpc>
                <a:spcPct val="112000"/>
              </a:lnSpc>
              <a:spcAft>
                <a:spcPts val="900"/>
              </a:spcAft>
            </a:pPr>
            <a:r>
              <a:rPr sz="2200" b="0">
                <a:solidFill>
                  <a:srgbClr val="202329"/>
                </a:solidFill>
                <a:latin typeface="Poppins"/>
              </a:rPr>
              <a:t>Assume 10,000 predictions</a:t>
            </a:r>
          </a:p>
          <a:p>
            <a:pPr algn="l">
              <a:lnSpc>
                <a:spcPct val="112000"/>
              </a:lnSpc>
              <a:spcAft>
                <a:spcPts val="900"/>
              </a:spcAft>
            </a:pPr>
            <a:r>
              <a:rPr sz="2200" b="0">
                <a:solidFill>
                  <a:srgbClr val="202329"/>
                </a:solidFill>
                <a:latin typeface="Poppins"/>
              </a:rPr>
              <a:t>One prediction per request</a:t>
            </a:r>
          </a:p>
        </p:txBody>
      </p:sp>
      <p:sp>
        <p:nvSpPr>
          <p:cNvPr id="14" name="Project panel"/>
          <p:cNvSpPr/>
          <p:nvPr/>
        </p:nvSpPr>
        <p:spPr>
          <a:xfrm>
            <a:off x="12024360" y="6446520"/>
            <a:ext cx="5029200" cy="2606040"/>
          </a:xfrm>
          <a:prstGeom prst="roundRect">
            <a:avLst>
              <a:gd name="adj" fmla="val 8000"/>
            </a:avLst>
          </a:prstGeom>
          <a:solidFill>
            <a:srgbClr val="F3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roject text"/>
          <p:cNvSpPr txBox="1"/>
          <p:nvPr/>
        </p:nvSpPr>
        <p:spPr>
          <a:xfrm>
            <a:off x="12225528" y="6629400"/>
            <a:ext cx="4626864" cy="640080"/>
          </a:xfrm>
          <a:prstGeom prst="rect">
            <a:avLst/>
          </a:prstGeom>
          <a:noFill/>
        </p:spPr>
        <p:txBody>
          <a:bodyPr wrap="square" lIns="36576" tIns="27432" rIns="36576" bIns="27432">
            <a:spAutoFit/>
          </a:bodyPr>
          <a:lstStyle/>
          <a:p>
            <a:pPr algn="l">
              <a:lnSpc>
                <a:spcPct val="112000"/>
              </a:lnSpc>
              <a:spcAft>
                <a:spcPts val="900"/>
              </a:spcAft>
            </a:pPr>
            <a:r>
              <a:rPr sz="3000" b="1">
                <a:solidFill>
                  <a:srgbClr val="C53A43"/>
                </a:solidFill>
                <a:latin typeface="Poppins"/>
              </a:rPr>
              <a:t>REPORTED COST</a:t>
            </a:r>
          </a:p>
        </p:txBody>
      </p:sp>
      <p:sp>
        <p:nvSpPr>
          <p:cNvPr id="16" name="Project text"/>
          <p:cNvSpPr txBox="1"/>
          <p:nvPr/>
        </p:nvSpPr>
        <p:spPr>
          <a:xfrm>
            <a:off x="12225528" y="7360920"/>
            <a:ext cx="4626864" cy="1554480"/>
          </a:xfrm>
          <a:prstGeom prst="rect">
            <a:avLst/>
          </a:prstGeom>
          <a:noFill/>
        </p:spPr>
        <p:txBody>
          <a:bodyPr wrap="square" lIns="36576" tIns="27432" rIns="36576" bIns="27432">
            <a:spAutoFit/>
          </a:bodyPr>
          <a:lstStyle/>
          <a:p>
            <a:pPr algn="l">
              <a:lnSpc>
                <a:spcPct val="112000"/>
              </a:lnSpc>
              <a:spcAft>
                <a:spcPts val="900"/>
              </a:spcAft>
            </a:pPr>
            <a:r>
              <a:rPr sz="2200" b="0">
                <a:solidFill>
                  <a:srgbClr val="202329"/>
                </a:solidFill>
                <a:latin typeface="Poppins"/>
              </a:rPr>
              <a:t>0.00143104 USD / 1,000</a:t>
            </a:r>
          </a:p>
          <a:p>
            <a:pPr algn="l">
              <a:lnSpc>
                <a:spcPct val="112000"/>
              </a:lnSpc>
              <a:spcAft>
                <a:spcPts val="900"/>
              </a:spcAft>
            </a:pPr>
            <a:r>
              <a:rPr sz="2200" b="0">
                <a:solidFill>
                  <a:srgbClr val="202329"/>
                </a:solidFill>
                <a:latin typeface="Poppins"/>
              </a:rPr>
              <a:t>841 observed profiles</a:t>
            </a:r>
          </a:p>
          <a:p>
            <a:pPr algn="l">
              <a:lnSpc>
                <a:spcPct val="112000"/>
              </a:lnSpc>
              <a:spcAft>
                <a:spcPts val="900"/>
              </a:spcAft>
            </a:pPr>
            <a:r>
              <a:rPr sz="2200" b="0">
                <a:solidFill>
                  <a:srgbClr val="202329"/>
                </a:solidFill>
                <a:latin typeface="Poppins"/>
              </a:rPr>
              <a:t>Provisional; not a final bill</a:t>
            </a:r>
          </a:p>
        </p:txBody>
      </p:sp>
      <p:sp>
        <p:nvSpPr>
          <p:cNvPr id="17" name="Project text"/>
          <p:cNvSpPr txBox="1"/>
          <p:nvPr/>
        </p:nvSpPr>
        <p:spPr>
          <a:xfrm>
            <a:off x="1097280" y="8823960"/>
            <a:ext cx="15910559" cy="457200"/>
          </a:xfrm>
          <a:prstGeom prst="rect">
            <a:avLst/>
          </a:prstGeom>
          <a:noFill/>
        </p:spPr>
        <p:txBody>
          <a:bodyPr wrap="square" lIns="36576" tIns="27432" rIns="36576" bIns="27432">
            <a:spAutoFit/>
          </a:bodyPr>
          <a:lstStyle/>
          <a:p>
            <a:pPr algn="l">
              <a:lnSpc>
                <a:spcPct val="112000"/>
              </a:lnSpc>
              <a:spcAft>
                <a:spcPts val="900"/>
              </a:spcAft>
            </a:pPr>
            <a:r>
              <a:rPr sz="2000" b="0">
                <a:solidFill>
                  <a:srgbClr val="647080"/>
                </a:solidFill>
                <a:latin typeface="Poppins"/>
              </a:rPr>
              <a:t>Assumptions: 40 THB/USD; training 1 h; app active 2 h; ACR 2 days. No credits applied.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38100"/>
              <a:ext cx="8094292" cy="800676"/>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028700" y="643336"/>
            <a:ext cx="16093440" cy="1828800"/>
          </a:xfrm>
          <a:prstGeom prst="rect">
            <a:avLst/>
          </a:prstGeom>
        </p:spPr>
        <p:txBody>
          <a:bodyPr lIns="0" tIns="0" rIns="0" bIns="0" rtlCol="0" anchor="t">
            <a:spAutoFit/>
          </a:bodyPr>
          <a:lstStyle/>
          <a:p>
            <a:pPr algn="l">
              <a:lnSpc>
                <a:spcPct val="102000"/>
              </a:lnSpc>
              <a:spcAft>
                <a:spcPts val="0"/>
              </a:spcAft>
            </a:pPr>
            <a:r>
              <a:rPr lang="en-US" sz="5000" b="1">
                <a:solidFill>
                  <a:srgbClr val="FFDC51"/>
                </a:solidFill>
                <a:latin typeface="League Spartan"/>
                <a:ea typeface="League Spartan"/>
                <a:cs typeface="League Spartan"/>
                <a:sym typeface="League Spartan"/>
              </a:rPr>
              <a:t>WHAT ANOTHER WEEK</a:t>
            </a:r>
          </a:p>
          <a:p>
            <a:pPr>
              <a:lnSpc>
                <a:spcPct val="102000"/>
              </a:lnSpc>
              <a:spcAft>
                <a:spcPts val="0"/>
              </a:spcAft>
            </a:pPr>
            <a:r>
              <a:rPr lang="en-US" sz="5000" b="1">
                <a:solidFill>
                  <a:srgbClr val="FFDC51"/>
                </a:solidFill>
                <a:latin typeface="League Spartan"/>
                <a:ea typeface="League Spartan"/>
                <a:cs typeface="League Spartan"/>
                <a:sym typeface="League Spartan"/>
              </a:rPr>
              <a:t>WOULD IMPROVE</a:t>
            </a:r>
          </a:p>
        </p:txBody>
      </p:sp>
      <p:sp>
        <p:nvSpPr>
          <p:cNvPr id="9"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13</a:t>
            </a:r>
          </a:p>
        </p:txBody>
      </p:sp>
      <p:sp>
        <p:nvSpPr>
          <p:cNvPr id="10"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reports/finish-delivery.json; docs/DELIVERY_STATUS.md; docs/FINAL_STEPS.md</a:t>
            </a:r>
          </a:p>
        </p:txBody>
      </p:sp>
      <p:graphicFrame>
        <p:nvGraphicFramePr>
          <p:cNvPr id="11" name="Table 10"/>
          <p:cNvGraphicFramePr>
            <a:graphicFrameLocks noGrp="1"/>
          </p:cNvGraphicFramePr>
          <p:nvPr/>
        </p:nvGraphicFramePr>
        <p:xfrm>
          <a:off x="1051560" y="3200400"/>
          <a:ext cx="16002000" cy="3291839"/>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11338560">
                  <a:extLst>
                    <a:ext uri="{9D8B030D-6E8A-4147-A177-3AD203B41FA5}">
                      <a16:colId xmlns:a16="http://schemas.microsoft.com/office/drawing/2014/main" val="20001"/>
                    </a:ext>
                  </a:extLst>
                </a:gridCol>
              </a:tblGrid>
              <a:tr h="658367">
                <a:tc>
                  <a:txBody>
                    <a:bodyPr/>
                    <a:lstStyle/>
                    <a:p>
                      <a:r>
                        <a:rPr sz="2200" b="1">
                          <a:solidFill>
                            <a:srgbClr val="FFFFFF"/>
                          </a:solidFill>
                          <a:latin typeface="Poppins"/>
                        </a:rPr>
                        <a:t>Priority</a:t>
                      </a:r>
                    </a:p>
                  </a:txBody>
                  <a:tcPr marL="146304" marR="109728" anchor="ctr">
                    <a:solidFill>
                      <a:srgbClr val="030F7D"/>
                    </a:solidFill>
                  </a:tcPr>
                </a:tc>
                <a:tc>
                  <a:txBody>
                    <a:bodyPr/>
                    <a:lstStyle/>
                    <a:p>
                      <a:r>
                        <a:rPr sz="2200" b="1">
                          <a:solidFill>
                            <a:srgbClr val="FFFFFF"/>
                          </a:solidFill>
                          <a:latin typeface="Poppins"/>
                        </a:rPr>
                        <a:t>Next action</a:t>
                      </a:r>
                    </a:p>
                  </a:txBody>
                  <a:tcPr marL="146304" marR="109728" anchor="ctr">
                    <a:solidFill>
                      <a:srgbClr val="030F7D"/>
                    </a:solidFill>
                  </a:tcPr>
                </a:tc>
                <a:extLst>
                  <a:ext uri="{0D108BD9-81ED-4DB2-BD59-A6C34878D82A}">
                    <a16:rowId xmlns:a16="http://schemas.microsoft.com/office/drawing/2014/main" val="10000"/>
                  </a:ext>
                </a:extLst>
              </a:tr>
              <a:tr h="658367">
                <a:tc>
                  <a:txBody>
                    <a:bodyPr/>
                    <a:lstStyle/>
                    <a:p>
                      <a:r>
                        <a:rPr sz="2200" b="0">
                          <a:solidFill>
                            <a:srgbClr val="202329"/>
                          </a:solidFill>
                          <a:latin typeface="Poppins"/>
                        </a:rPr>
                        <a:t>Cloud warm latency</a:t>
                      </a:r>
                    </a:p>
                  </a:txBody>
                  <a:tcPr marL="146304" marR="109728" anchor="ctr">
                    <a:solidFill>
                      <a:srgbClr val="F3F5F9"/>
                    </a:solidFill>
                  </a:tcPr>
                </a:tc>
                <a:tc>
                  <a:txBody>
                    <a:bodyPr/>
                    <a:lstStyle/>
                    <a:p>
                      <a:r>
                        <a:rPr sz="2200" b="0">
                          <a:solidFill>
                            <a:srgbClr val="202329"/>
                          </a:solidFill>
                          <a:latin typeface="Poppins"/>
                        </a:rPr>
                        <a:t>Measure network vs. application time; retest p95</a:t>
                      </a:r>
                    </a:p>
                  </a:txBody>
                  <a:tcPr marL="146304" marR="109728" anchor="ctr">
                    <a:solidFill>
                      <a:srgbClr val="F3F5F9"/>
                    </a:solidFill>
                  </a:tcPr>
                </a:tc>
                <a:extLst>
                  <a:ext uri="{0D108BD9-81ED-4DB2-BD59-A6C34878D82A}">
                    <a16:rowId xmlns:a16="http://schemas.microsoft.com/office/drawing/2014/main" val="10001"/>
                  </a:ext>
                </a:extLst>
              </a:tr>
              <a:tr h="658367">
                <a:tc>
                  <a:txBody>
                    <a:bodyPr/>
                    <a:lstStyle/>
                    <a:p>
                      <a:r>
                        <a:rPr sz="2200" b="0">
                          <a:solidFill>
                            <a:srgbClr val="202329"/>
                          </a:solidFill>
                          <a:latin typeface="Poppins"/>
                        </a:rPr>
                        <a:t>Cost reconciliation</a:t>
                      </a:r>
                    </a:p>
                  </a:txBody>
                  <a:tcPr marL="146304" marR="109728" anchor="ctr">
                    <a:solidFill>
                      <a:srgbClr val="FFFFFF"/>
                    </a:solidFill>
                  </a:tcPr>
                </a:tc>
                <a:tc>
                  <a:txBody>
                    <a:bodyPr/>
                    <a:lstStyle/>
                    <a:p>
                      <a:r>
                        <a:rPr sz="2200" b="0">
                          <a:solidFill>
                            <a:srgbClr val="202329"/>
                          </a:solidFill>
                          <a:latin typeface="Poppins"/>
                        </a:rPr>
                        <a:t>Recheck full cost and usage when billing updates</a:t>
                      </a:r>
                    </a:p>
                  </a:txBody>
                  <a:tcPr marL="146304" marR="109728" anchor="ctr">
                    <a:solidFill>
                      <a:srgbClr val="FFFFFF"/>
                    </a:solidFill>
                  </a:tcPr>
                </a:tc>
                <a:extLst>
                  <a:ext uri="{0D108BD9-81ED-4DB2-BD59-A6C34878D82A}">
                    <a16:rowId xmlns:a16="http://schemas.microsoft.com/office/drawing/2014/main" val="10002"/>
                  </a:ext>
                </a:extLst>
              </a:tr>
              <a:tr h="658367">
                <a:tc>
                  <a:txBody>
                    <a:bodyPr/>
                    <a:lstStyle/>
                    <a:p>
                      <a:r>
                        <a:rPr sz="2200" b="0">
                          <a:solidFill>
                            <a:srgbClr val="202329"/>
                          </a:solidFill>
                          <a:latin typeface="Poppins"/>
                        </a:rPr>
                        <a:t>Live feature drift</a:t>
                      </a:r>
                    </a:p>
                  </a:txBody>
                  <a:tcPr marL="146304" marR="109728" anchor="ctr">
                    <a:solidFill>
                      <a:srgbClr val="F3F5F9"/>
                    </a:solidFill>
                  </a:tcPr>
                </a:tc>
                <a:tc>
                  <a:txBody>
                    <a:bodyPr/>
                    <a:lstStyle/>
                    <a:p>
                      <a:r>
                        <a:rPr sz="2200" b="0">
                          <a:solidFill>
                            <a:srgbClr val="202329"/>
                          </a:solidFill>
                          <a:latin typeface="Poppins"/>
                        </a:rPr>
                        <a:t>Add rolling windows when current data is available</a:t>
                      </a:r>
                    </a:p>
                  </a:txBody>
                  <a:tcPr marL="146304" marR="109728" anchor="ctr">
                    <a:solidFill>
                      <a:srgbClr val="F3F5F9"/>
                    </a:solidFill>
                  </a:tcPr>
                </a:tc>
                <a:extLst>
                  <a:ext uri="{0D108BD9-81ED-4DB2-BD59-A6C34878D82A}">
                    <a16:rowId xmlns:a16="http://schemas.microsoft.com/office/drawing/2014/main" val="10003"/>
                  </a:ext>
                </a:extLst>
              </a:tr>
              <a:tr h="658371">
                <a:tc>
                  <a:txBody>
                    <a:bodyPr/>
                    <a:lstStyle/>
                    <a:p>
                      <a:r>
                        <a:rPr sz="2200" b="0">
                          <a:solidFill>
                            <a:srgbClr val="202329"/>
                          </a:solidFill>
                          <a:latin typeface="Poppins"/>
                        </a:rPr>
                        <a:t>User quality</a:t>
                      </a:r>
                    </a:p>
                  </a:txBody>
                  <a:tcPr marL="146304" marR="109728" anchor="ctr">
                    <a:solidFill>
                      <a:srgbClr val="FFFFFF"/>
                    </a:solidFill>
                  </a:tcPr>
                </a:tc>
                <a:tc>
                  <a:txBody>
                    <a:bodyPr/>
                    <a:lstStyle/>
                    <a:p>
                      <a:r>
                        <a:rPr sz="2200" b="0">
                          <a:solidFill>
                            <a:srgbClr val="202329"/>
                          </a:solidFill>
                          <a:latin typeface="Poppins"/>
                        </a:rPr>
                        <a:t>Review segment labels and test useful recommendations</a:t>
                      </a:r>
                    </a:p>
                  </a:txBody>
                  <a:tcPr marL="146304" marR="109728" anchor="ctr">
                    <a:solidFill>
                      <a:srgbClr val="FFFFFF"/>
                    </a:solidFill>
                  </a:tcPr>
                </a:tc>
                <a:extLst>
                  <a:ext uri="{0D108BD9-81ED-4DB2-BD59-A6C34878D82A}">
                    <a16:rowId xmlns:a16="http://schemas.microsoft.com/office/drawing/2014/main" val="10004"/>
                  </a:ext>
                </a:extLst>
              </a:tr>
            </a:tbl>
          </a:graphicData>
        </a:graphic>
      </p:graphicFrame>
      <p:sp>
        <p:nvSpPr>
          <p:cNvPr id="12" name="Project text"/>
          <p:cNvSpPr txBox="1"/>
          <p:nvPr/>
        </p:nvSpPr>
        <p:spPr>
          <a:xfrm>
            <a:off x="1188720" y="6995160"/>
            <a:ext cx="15544800" cy="868680"/>
          </a:xfrm>
          <a:prstGeom prst="rect">
            <a:avLst/>
          </a:prstGeom>
          <a:noFill/>
        </p:spPr>
        <p:txBody>
          <a:bodyPr wrap="square" lIns="36576" tIns="27432" rIns="36576" bIns="27432">
            <a:spAutoFit/>
          </a:bodyPr>
          <a:lstStyle/>
          <a:p>
            <a:pPr algn="l">
              <a:lnSpc>
                <a:spcPct val="112000"/>
              </a:lnSpc>
              <a:spcAft>
                <a:spcPts val="900"/>
              </a:spcAft>
            </a:pPr>
            <a:r>
              <a:rPr sz="2500" b="0">
                <a:solidFill>
                  <a:srgbClr val="202329"/>
                </a:solidFill>
                <a:latin typeface="Poppins"/>
              </a:rPr>
              <a:t>Current limits: provisional labels, unknown zero meaning, and no user-quality study.</a:t>
            </a:r>
          </a:p>
        </p:txBody>
      </p:sp>
      <p:sp>
        <p:nvSpPr>
          <p:cNvPr id="13" name="Project text"/>
          <p:cNvSpPr txBox="1"/>
          <p:nvPr/>
        </p:nvSpPr>
        <p:spPr>
          <a:xfrm>
            <a:off x="1188720" y="8092440"/>
            <a:ext cx="15544800" cy="868680"/>
          </a:xfrm>
          <a:prstGeom prst="rect">
            <a:avLst/>
          </a:prstGeom>
          <a:noFill/>
        </p:spPr>
        <p:txBody>
          <a:bodyPr wrap="square" lIns="36576" tIns="27432" rIns="36576" bIns="27432">
            <a:spAutoFit/>
          </a:bodyPr>
          <a:lstStyle/>
          <a:p>
            <a:pPr algn="l">
              <a:lnSpc>
                <a:spcPct val="112000"/>
              </a:lnSpc>
              <a:spcAft>
                <a:spcPts val="900"/>
              </a:spcAft>
            </a:pPr>
            <a:r>
              <a:rPr sz="2500" b="0">
                <a:solidFill>
                  <a:srgbClr val="206783"/>
                </a:solidFill>
                <a:latin typeface="Poppins"/>
              </a:rPr>
              <a:t>Save evidence before cleanup. Remove cloud resources after the final demo.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68747"/>
            <a:ext cx="30733015" cy="2895405"/>
            <a:chOff x="0" y="0"/>
            <a:chExt cx="8094292" cy="762576"/>
          </a:xfrm>
        </p:grpSpPr>
        <p:sp>
          <p:nvSpPr>
            <p:cNvPr id="3" name="Freeform 3"/>
            <p:cNvSpPr/>
            <p:nvPr/>
          </p:nvSpPr>
          <p:spPr>
            <a:xfrm>
              <a:off x="0" y="0"/>
              <a:ext cx="8094292" cy="762576"/>
            </a:xfrm>
            <a:custGeom>
              <a:avLst/>
              <a:gdLst/>
              <a:ahLst/>
              <a:cxnLst/>
              <a:rect l="l" t="t" r="r" b="b"/>
              <a:pathLst>
                <a:path w="8094292" h="762576">
                  <a:moveTo>
                    <a:pt x="0" y="0"/>
                  </a:moveTo>
                  <a:lnTo>
                    <a:pt x="8094292" y="0"/>
                  </a:lnTo>
                  <a:lnTo>
                    <a:pt x="8094292" y="762576"/>
                  </a:lnTo>
                  <a:lnTo>
                    <a:pt x="0" y="762576"/>
                  </a:lnTo>
                  <a:close/>
                </a:path>
              </a:pathLst>
            </a:custGeom>
            <a:gradFill rotWithShape="1">
              <a:gsLst>
                <a:gs pos="0">
                  <a:srgbClr val="030F7D">
                    <a:alpha val="100000"/>
                  </a:srgbClr>
                </a:gs>
                <a:gs pos="100000">
                  <a:srgbClr val="FFFFFF">
                    <a:alpha val="100000"/>
                  </a:srgbClr>
                </a:gs>
              </a:gsLst>
              <a:lin ang="0"/>
            </a:gradFill>
          </p:spPr>
        </p:sp>
        <p:sp>
          <p:nvSpPr>
            <p:cNvPr id="4" name="TextBox 4"/>
            <p:cNvSpPr txBox="1"/>
            <p:nvPr/>
          </p:nvSpPr>
          <p:spPr>
            <a:xfrm>
              <a:off x="0" y="-28575"/>
              <a:ext cx="8094292" cy="791151"/>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028700" y="1025061"/>
            <a:ext cx="16093440" cy="914400"/>
          </a:xfrm>
          <a:prstGeom prst="rect">
            <a:avLst/>
          </a:prstGeom>
        </p:spPr>
        <p:txBody>
          <a:bodyPr lIns="0" tIns="0" rIns="0" bIns="0" rtlCol="0" anchor="t">
            <a:spAutoFit/>
          </a:bodyPr>
          <a:lstStyle/>
          <a:p>
            <a:pPr algn="l">
              <a:lnSpc>
                <a:spcPct val="102000"/>
              </a:lnSpc>
              <a:spcAft>
                <a:spcPts val="0"/>
              </a:spcAft>
            </a:pPr>
            <a:r>
              <a:rPr lang="en-US" sz="5999">
                <a:solidFill>
                  <a:srgbClr val="FFDC51"/>
                </a:solidFill>
                <a:latin typeface="League Spartan"/>
                <a:ea typeface="League Spartan"/>
                <a:cs typeface="League Spartan"/>
                <a:sym typeface="League Spartan"/>
              </a:rPr>
              <a:t>REFERENCES</a:t>
            </a:r>
          </a:p>
        </p:txBody>
      </p:sp>
      <p:sp>
        <p:nvSpPr>
          <p:cNvPr id="8" name="Project text"/>
          <p:cNvSpPr txBox="1"/>
          <p:nvPr/>
        </p:nvSpPr>
        <p:spPr>
          <a:xfrm>
            <a:off x="17190720" y="9710928"/>
            <a:ext cx="640080" cy="320040"/>
          </a:xfrm>
          <a:prstGeom prst="rect">
            <a:avLst/>
          </a:prstGeom>
          <a:noFill/>
        </p:spPr>
        <p:txBody>
          <a:bodyPr wrap="square" lIns="36576" tIns="27432" rIns="36576" bIns="27432">
            <a:spAutoFit/>
          </a:bodyPr>
          <a:lstStyle/>
          <a:p>
            <a:pPr algn="r">
              <a:lnSpc>
                <a:spcPct val="112000"/>
              </a:lnSpc>
              <a:spcAft>
                <a:spcPts val="900"/>
              </a:spcAft>
            </a:pPr>
            <a:r>
              <a:rPr sz="2000" b="0">
                <a:solidFill>
                  <a:srgbClr val="647080"/>
                </a:solidFill>
                <a:latin typeface="Poppins"/>
              </a:rPr>
              <a:t>14</a:t>
            </a:r>
          </a:p>
        </p:txBody>
      </p:sp>
      <p:sp>
        <p:nvSpPr>
          <p:cNvPr id="9" name="Project text"/>
          <p:cNvSpPr txBox="1"/>
          <p:nvPr/>
        </p:nvSpPr>
        <p:spPr>
          <a:xfrm>
            <a:off x="868680" y="9555480"/>
            <a:ext cx="16093440" cy="438912"/>
          </a:xfrm>
          <a:prstGeom prst="rect">
            <a:avLst/>
          </a:prstGeom>
          <a:noFill/>
        </p:spPr>
        <p:txBody>
          <a:bodyPr wrap="square" lIns="36576" tIns="27432" rIns="36576" bIns="27432">
            <a:spAutoFit/>
          </a:bodyPr>
          <a:lstStyle/>
          <a:p>
            <a:pPr algn="l">
              <a:lnSpc>
                <a:spcPct val="112000"/>
              </a:lnSpc>
              <a:spcAft>
                <a:spcPts val="900"/>
              </a:spcAft>
            </a:pPr>
            <a:r>
              <a:rPr sz="1200" b="0">
                <a:solidFill>
                  <a:srgbClr val="647080"/>
                </a:solidFill>
                <a:latin typeface="Poppins"/>
              </a:rPr>
              <a:t>Source: UCI dataset page; course brief; project reports and CI runs</a:t>
            </a:r>
          </a:p>
        </p:txBody>
      </p:sp>
      <p:sp>
        <p:nvSpPr>
          <p:cNvPr id="10" name="Project text"/>
          <p:cNvSpPr txBox="1"/>
          <p:nvPr/>
        </p:nvSpPr>
        <p:spPr>
          <a:xfrm>
            <a:off x="1051560" y="3017520"/>
            <a:ext cx="15910559" cy="5212080"/>
          </a:xfrm>
          <a:prstGeom prst="rect">
            <a:avLst/>
          </a:prstGeom>
          <a:noFill/>
        </p:spPr>
        <p:txBody>
          <a:bodyPr wrap="square" lIns="36576" tIns="27432" rIns="36576" bIns="27432">
            <a:spAutoFit/>
          </a:bodyPr>
          <a:lstStyle/>
          <a:p>
            <a:pPr algn="l">
              <a:lnSpc>
                <a:spcPct val="112000"/>
              </a:lnSpc>
              <a:spcAft>
                <a:spcPts val="900"/>
              </a:spcAft>
            </a:pPr>
            <a:r>
              <a:rPr sz="2400" b="0">
                <a:solidFill>
                  <a:srgbClr val="202329"/>
                </a:solidFill>
                <a:latin typeface="Poppins"/>
              </a:rPr>
              <a:t>[1] S. Renjith, "Travel Review Ratings," UCI Machine Learning Repository, 2018.</a:t>
            </a:r>
          </a:p>
          <a:p>
            <a:pPr algn="l">
              <a:lnSpc>
                <a:spcPct val="112000"/>
              </a:lnSpc>
              <a:spcAft>
                <a:spcPts val="900"/>
              </a:spcAft>
            </a:pPr>
            <a:r>
              <a:rPr sz="2400" b="0">
                <a:solidFill>
                  <a:srgbClr val="202329"/>
                </a:solidFill>
                <a:latin typeface="Poppins"/>
              </a:rPr>
              <a:t>DOI: 10.24432/C5C31Q. License: CC BY 4.0.</a:t>
            </a:r>
          </a:p>
          <a:p>
            <a:pPr algn="l">
              <a:lnSpc>
                <a:spcPct val="112000"/>
              </a:lnSpc>
              <a:spcAft>
                <a:spcPts val="900"/>
              </a:spcAft>
            </a:pPr>
            <a:endParaRPr sz="2400" b="0">
              <a:solidFill>
                <a:srgbClr val="202329"/>
              </a:solidFill>
              <a:latin typeface="Poppins"/>
            </a:endParaRPr>
          </a:p>
          <a:p>
            <a:pPr algn="l">
              <a:lnSpc>
                <a:spcPct val="112000"/>
              </a:lnSpc>
              <a:spcAft>
                <a:spcPts val="900"/>
              </a:spcAft>
            </a:pPr>
            <a:r>
              <a:rPr sz="2400" b="0">
                <a:solidFill>
                  <a:srgbClr val="202329"/>
                </a:solidFill>
                <a:latin typeface="Poppins"/>
              </a:rPr>
              <a:t>[2] ITCS355, "Capstone Project Brief," course/project/project-brief.md.</a:t>
            </a:r>
          </a:p>
          <a:p>
            <a:pPr algn="l">
              <a:lnSpc>
                <a:spcPct val="112000"/>
              </a:lnSpc>
              <a:spcAft>
                <a:spcPts val="900"/>
              </a:spcAft>
            </a:pPr>
            <a:r>
              <a:rPr sz="2400" b="0">
                <a:solidFill>
                  <a:srgbClr val="202329"/>
                </a:solidFill>
                <a:latin typeface="Poppins"/>
              </a:rPr>
              <a:t>Presentation: 8 minutes + 5 minutes of questions.</a:t>
            </a:r>
          </a:p>
          <a:p>
            <a:pPr algn="l">
              <a:lnSpc>
                <a:spcPct val="112000"/>
              </a:lnSpc>
              <a:spcAft>
                <a:spcPts val="900"/>
              </a:spcAft>
            </a:pPr>
            <a:endParaRPr sz="2400" b="0">
              <a:solidFill>
                <a:srgbClr val="202329"/>
              </a:solidFill>
              <a:latin typeface="Poppins"/>
            </a:endParaRPr>
          </a:p>
          <a:p>
            <a:pPr algn="l">
              <a:lnSpc>
                <a:spcPct val="112000"/>
              </a:lnSpc>
              <a:spcAft>
                <a:spcPts val="900"/>
              </a:spcAft>
            </a:pPr>
            <a:r>
              <a:rPr sz="2400" b="0">
                <a:solidFill>
                  <a:srgbClr val="202329"/>
                </a:solidFill>
                <a:latin typeface="Poppins"/>
              </a:rPr>
              <a:t>[3] MLOP-PJ team, "Project reports and CI runs."</a:t>
            </a:r>
          </a:p>
          <a:p>
            <a:pPr algn="l">
              <a:lnSpc>
                <a:spcPct val="112000"/>
              </a:lnSpc>
              <a:spcAft>
                <a:spcPts val="900"/>
              </a:spcAft>
            </a:pPr>
            <a:r>
              <a:rPr sz="2400" b="0">
                <a:solidFill>
                  <a:srgbClr val="202329"/>
                </a:solidFill>
                <a:latin typeface="Poppins"/>
              </a:rPr>
              <a:t>Data, registry, API, load, alert, recovery, drift, and cost evidence.</a:t>
            </a:r>
          </a:p>
        </p:txBody>
      </p:sp>
      <p:sp>
        <p:nvSpPr>
          <p:cNvPr id="11" name="Project text"/>
          <p:cNvSpPr txBox="1"/>
          <p:nvPr/>
        </p:nvSpPr>
        <p:spPr>
          <a:xfrm>
            <a:off x="1097280" y="8321040"/>
            <a:ext cx="15819120" cy="502920"/>
          </a:xfrm>
          <a:prstGeom prst="rect">
            <a:avLst/>
          </a:prstGeom>
          <a:noFill/>
        </p:spPr>
        <p:txBody>
          <a:bodyPr wrap="square" lIns="36576" tIns="27432" rIns="36576" bIns="27432">
            <a:spAutoFit/>
          </a:bodyPr>
          <a:lstStyle/>
          <a:p>
            <a:pPr algn="l">
              <a:lnSpc>
                <a:spcPct val="112000"/>
              </a:lnSpc>
              <a:spcAft>
                <a:spcPts val="900"/>
              </a:spcAft>
            </a:pPr>
            <a:r>
              <a:rPr sz="2100" b="0">
                <a:solidFill>
                  <a:srgbClr val="030F7D"/>
                </a:solidFill>
                <a:latin typeface="Poppins"/>
                <a:hlinkClick r:id="rId3"/>
              </a:rPr>
              <a:t>Dataset: https://doi.org/10.24432/C5C31Q</a:t>
            </a:r>
          </a:p>
        </p:txBody>
      </p:sp>
      <p:sp>
        <p:nvSpPr>
          <p:cNvPr id="12" name="Project text"/>
          <p:cNvSpPr txBox="1"/>
          <p:nvPr/>
        </p:nvSpPr>
        <p:spPr>
          <a:xfrm>
            <a:off x="1097280" y="8915400"/>
            <a:ext cx="15819120" cy="457200"/>
          </a:xfrm>
          <a:prstGeom prst="rect">
            <a:avLst/>
          </a:prstGeom>
          <a:noFill/>
        </p:spPr>
        <p:txBody>
          <a:bodyPr wrap="square" lIns="36576" tIns="27432" rIns="36576" bIns="27432">
            <a:spAutoFit/>
          </a:bodyPr>
          <a:lstStyle/>
          <a:p>
            <a:pPr algn="l">
              <a:lnSpc>
                <a:spcPct val="112000"/>
              </a:lnSpc>
              <a:spcAft>
                <a:spcPts val="900"/>
              </a:spcAft>
            </a:pPr>
            <a:r>
              <a:rPr sz="2100" b="0">
                <a:solidFill>
                  <a:srgbClr val="030F7D"/>
                </a:solidFill>
                <a:latin typeface="Poppins"/>
                <a:hlinkClick r:id="rId4"/>
              </a:rPr>
              <a:t>Repository: https://github.com/DewPerawis/MLOP-PJ (access required)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47076" y="2457430"/>
            <a:ext cx="13193847" cy="5921553"/>
          </a:xfrm>
          <a:prstGeom prst="rect">
            <a:avLst/>
          </a:prstGeom>
        </p:spPr>
        <p:txBody>
          <a:bodyPr lIns="0" tIns="0" rIns="0" bIns="0" rtlCol="0" anchor="t">
            <a:spAutoFit/>
          </a:bodyPr>
          <a:lstStyle/>
          <a:p>
            <a:pPr algn="ctr">
              <a:lnSpc>
                <a:spcPts val="22757"/>
              </a:lnSpc>
            </a:pPr>
            <a:r>
              <a:rPr lang="en-US" sz="22757">
                <a:solidFill>
                  <a:srgbClr val="000000"/>
                </a:solidFill>
                <a:latin typeface="League Spartan"/>
                <a:ea typeface="League Spartan"/>
                <a:cs typeface="League Spartan"/>
                <a:sym typeface="League Spartan"/>
              </a:rPr>
              <a:t>THANK</a:t>
            </a:r>
            <a:r>
              <a:rPr lang="en-US" sz="22757">
                <a:solidFill>
                  <a:srgbClr val="D6D6D4"/>
                </a:solidFill>
                <a:latin typeface="League Spartan"/>
                <a:ea typeface="League Spartan"/>
                <a:cs typeface="League Spartan"/>
                <a:sym typeface="League Spartan"/>
              </a:rPr>
              <a:t> </a:t>
            </a:r>
            <a:r>
              <a:rPr lang="en-US" sz="22757">
                <a:solidFill>
                  <a:srgbClr val="000000"/>
                </a:solidFill>
                <a:latin typeface="League Spartan"/>
                <a:ea typeface="League Spartan"/>
                <a:cs typeface="League Spartan"/>
                <a:sym typeface="League Spartan"/>
              </a:rPr>
              <a:t>YOU</a:t>
            </a:r>
          </a:p>
        </p:txBody>
      </p:sp>
      <p:sp>
        <p:nvSpPr>
          <p:cNvPr id="3" name="Freeform 3"/>
          <p:cNvSpPr/>
          <p:nvPr/>
        </p:nvSpPr>
        <p:spPr>
          <a:xfrm>
            <a:off x="8209901" y="8378984"/>
            <a:ext cx="1868198" cy="618204"/>
          </a:xfrm>
          <a:custGeom>
            <a:avLst/>
            <a:gdLst/>
            <a:ahLst/>
            <a:cxnLst/>
            <a:rect l="l" t="t" r="r" b="b"/>
            <a:pathLst>
              <a:path w="1868198" h="618204">
                <a:moveTo>
                  <a:pt x="0" y="0"/>
                </a:moveTo>
                <a:lnTo>
                  <a:pt x="1868198" y="0"/>
                </a:lnTo>
                <a:lnTo>
                  <a:pt x="1868198" y="618203"/>
                </a:lnTo>
                <a:lnTo>
                  <a:pt x="0" y="6182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3799358" y="3773503"/>
            <a:ext cx="5051790" cy="7861360"/>
          </a:xfrm>
          <a:custGeom>
            <a:avLst/>
            <a:gdLst/>
            <a:ahLst/>
            <a:cxnLst/>
            <a:rect l="l" t="t" r="r" b="b"/>
            <a:pathLst>
              <a:path w="5051790" h="7861360">
                <a:moveTo>
                  <a:pt x="0" y="0"/>
                </a:moveTo>
                <a:lnTo>
                  <a:pt x="5051790" y="0"/>
                </a:lnTo>
                <a:lnTo>
                  <a:pt x="5051790" y="7861360"/>
                </a:lnTo>
                <a:lnTo>
                  <a:pt x="0" y="78613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H="1" flipV="1">
            <a:off x="-455035" y="-442015"/>
            <a:ext cx="3869203" cy="6021072"/>
          </a:xfrm>
          <a:custGeom>
            <a:avLst/>
            <a:gdLst/>
            <a:ahLst/>
            <a:cxnLst/>
            <a:rect l="l" t="t" r="r" b="b"/>
            <a:pathLst>
              <a:path w="3869203" h="6021072">
                <a:moveTo>
                  <a:pt x="3869203" y="6021072"/>
                </a:moveTo>
                <a:lnTo>
                  <a:pt x="0" y="6021072"/>
                </a:lnTo>
                <a:lnTo>
                  <a:pt x="0" y="0"/>
                </a:lnTo>
                <a:lnTo>
                  <a:pt x="3869203" y="0"/>
                </a:lnTo>
                <a:lnTo>
                  <a:pt x="3869203" y="6021072"/>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6525278" y="9130537"/>
            <a:ext cx="2617078" cy="2617078"/>
          </a:xfrm>
          <a:custGeom>
            <a:avLst/>
            <a:gdLst/>
            <a:ahLst/>
            <a:cxnLst/>
            <a:rect l="l" t="t" r="r" b="b"/>
            <a:pathLst>
              <a:path w="2617078" h="2617078">
                <a:moveTo>
                  <a:pt x="0" y="0"/>
                </a:moveTo>
                <a:lnTo>
                  <a:pt x="2617078" y="0"/>
                </a:lnTo>
                <a:lnTo>
                  <a:pt x="2617078" y="2617078"/>
                </a:lnTo>
                <a:lnTo>
                  <a:pt x="0" y="261707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947307" y="-1541077"/>
            <a:ext cx="2617078" cy="2617078"/>
          </a:xfrm>
          <a:custGeom>
            <a:avLst/>
            <a:gdLst/>
            <a:ahLst/>
            <a:cxnLst/>
            <a:rect l="l" t="t" r="r" b="b"/>
            <a:pathLst>
              <a:path w="2617078" h="2617078">
                <a:moveTo>
                  <a:pt x="0" y="0"/>
                </a:moveTo>
                <a:lnTo>
                  <a:pt x="2617078" y="0"/>
                </a:lnTo>
                <a:lnTo>
                  <a:pt x="2617078" y="2617078"/>
                </a:lnTo>
                <a:lnTo>
                  <a:pt x="0" y="261707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2220</Words>
  <Application>Microsoft Office PowerPoint</Application>
  <PresentationFormat>Custom</PresentationFormat>
  <Paragraphs>280</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Consolas</vt:lpstr>
      <vt:lpstr>Poppins</vt:lpstr>
      <vt:lpstr>Arial</vt:lpstr>
      <vt:lpstr>Calibri</vt:lpstr>
      <vt:lpstr>League Spartan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 Style Segmentation &amp; Drift Monitoring</dc:title>
  <dc:subject>ITCS355 MLOps capstone presentation</dc:subject>
  <dc:creator>Perawis Buranasing; Supitsara Tanasarnsukstid; Atichat Kangsamut</dc:creator>
  <cp:keywords>ITCS355, MLOps, Azure, Travel Style</cp:keywords>
  <dc:description>Built from the supplied template and verified project reports.</dc:description>
  <cp:lastModifiedBy>PERAWIS BURANASING</cp:lastModifiedBy>
  <cp:revision>2</cp:revision>
  <dcterms:created xsi:type="dcterms:W3CDTF">2006-08-16T00:00:00Z</dcterms:created>
  <dcterms:modified xsi:type="dcterms:W3CDTF">2026-10-11T20:58:44Z</dcterms:modified>
  <dc:identifier>DAHWveodPRs</dc:identifier>
</cp:coreProperties>
</file>