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4"/>
    </p:embeddedFont>
    <p:embeddedFont>
      <p:font typeface="Garuda" charset="1" panose="020B0604020202020204"/>
      <p:regular r:id="rId26"/>
    </p:embeddedFont>
    <p:embeddedFont>
      <p:font typeface="Poppins Bold" charset="1" panose="00000800000000000000"/>
      <p:regular r:id="rId27"/>
    </p:embeddedFont>
    <p:embeddedFont>
      <p:font typeface="Poppins" charset="1" panose="00000500000000000000"/>
      <p:regular r:id="rId28"/>
    </p:embeddedFont>
    <p:embeddedFont>
      <p:font typeface="Code Pro" charset="1" panose="000005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Hello everyone. Today we will talk about Intellectual Property in the AI Era.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*****https://shorturl.at/Sfvqi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“AI today can use text, images, voices, and even human identity to create new content.</a:t>
            </a:r>
          </a:p>
          <a:p>
            <a:r>
              <a:rPr lang="en-US"/>
              <a:t>This creates many ethical questions — such as:</a:t>
            </a:r>
          </a:p>
          <a:p>
            <a:r>
              <a:rPr lang="en-US"/>
              <a:t>Who owns the content?</a:t>
            </a:r>
          </a:p>
          <a:p>
            <a:r>
              <a:rPr lang="en-US"/>
              <a:t>Did the person give consent?</a:t>
            </a:r>
          </a:p>
          <a:p>
            <a:r>
              <a:rPr lang="en-US"/>
              <a:t>Is the AI system fair and transparent?</a:t>
            </a:r>
          </a:p>
          <a:p>
            <a:r>
              <a:rPr lang="en-US"/>
              <a:t>We will explore these issues through real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12.png" Type="http://schemas.openxmlformats.org/officeDocument/2006/relationships/image"/><Relationship Id="rId6" Target="../embeddings/oleObject3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Relationship Id="rId4" Target="../embeddings/oleObject4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Relationship Id="rId4" Target="../embeddings/oleObject5.bin" Type="http://schemas.openxmlformats.org/officeDocument/2006/relationships/oleObject"/><Relationship Id="rId5" Target="../media/image16.png" Type="http://schemas.openxmlformats.org/officeDocument/2006/relationships/image"/><Relationship Id="rId6" Target="../embeddings/oleObject6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7.png" Type="http://schemas.openxmlformats.org/officeDocument/2006/relationships/image"/><Relationship Id="rId4" Target="../embeddings/oleObject7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embeddings/oleObject8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0.png" Type="http://schemas.openxmlformats.org/officeDocument/2006/relationships/image"/><Relationship Id="rId4" Target="../embeddings/oleObject9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https://www.sciencedirect.com/science/article/pii/S0738399110001680" TargetMode="External" Type="http://schemas.openxmlformats.org/officeDocument/2006/relationships/hyperlink"/><Relationship Id="rId4" Target="https://journals.plos.org/plosone/article?id=10.1371/journal.pone.0118432" TargetMode="External" Type="http://schemas.openxmlformats.org/officeDocument/2006/relationships/hyperlink"/><Relationship Id="rId5" Target="https://academic.oup.com/jrsssb/article/57/1/289/7035855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99358" y="3773503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0" y="0"/>
                </a:moveTo>
                <a:lnTo>
                  <a:pt x="5051790" y="0"/>
                </a:lnTo>
                <a:lnTo>
                  <a:pt x="5051790" y="7861360"/>
                </a:lnTo>
                <a:lnTo>
                  <a:pt x="0" y="786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455035" y="-442015"/>
            <a:ext cx="3869203" cy="6021072"/>
          </a:xfrm>
          <a:custGeom>
            <a:avLst/>
            <a:gdLst/>
            <a:ahLst/>
            <a:cxnLst/>
            <a:rect r="r" b="b" t="t" l="l"/>
            <a:pathLst>
              <a:path h="6021072" w="3869203">
                <a:moveTo>
                  <a:pt x="3869203" y="6021072"/>
                </a:moveTo>
                <a:lnTo>
                  <a:pt x="0" y="6021072"/>
                </a:lnTo>
                <a:lnTo>
                  <a:pt x="0" y="0"/>
                </a:lnTo>
                <a:lnTo>
                  <a:pt x="3869203" y="0"/>
                </a:lnTo>
                <a:lnTo>
                  <a:pt x="3869203" y="60210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25278" y="913053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47307" y="-154107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8427926" y="8112446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8" y="0"/>
                </a:lnTo>
                <a:lnTo>
                  <a:pt x="1432148" y="473911"/>
                </a:lnTo>
                <a:lnTo>
                  <a:pt x="0" y="473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947011" y="1700643"/>
            <a:ext cx="6393978" cy="1578597"/>
            <a:chOff x="0" y="0"/>
            <a:chExt cx="8525304" cy="21047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7896" cy="2104797"/>
            </a:xfrm>
            <a:custGeom>
              <a:avLst/>
              <a:gdLst/>
              <a:ahLst/>
              <a:cxnLst/>
              <a:rect r="r" b="b" t="t" l="l"/>
              <a:pathLst>
                <a:path h="2104797" w="2097896">
                  <a:moveTo>
                    <a:pt x="0" y="0"/>
                  </a:moveTo>
                  <a:lnTo>
                    <a:pt x="2097896" y="0"/>
                  </a:lnTo>
                  <a:lnTo>
                    <a:pt x="2097896" y="2104797"/>
                  </a:lnTo>
                  <a:lnTo>
                    <a:pt x="0" y="2104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62141" y="0"/>
              <a:ext cx="4209593" cy="2104797"/>
            </a:xfrm>
            <a:custGeom>
              <a:avLst/>
              <a:gdLst/>
              <a:ahLst/>
              <a:cxnLst/>
              <a:rect r="r" b="b" t="t" l="l"/>
              <a:pathLst>
                <a:path h="2104797" w="4209593">
                  <a:moveTo>
                    <a:pt x="0" y="0"/>
                  </a:moveTo>
                  <a:lnTo>
                    <a:pt x="4209593" y="0"/>
                  </a:lnTo>
                  <a:lnTo>
                    <a:pt x="4209593" y="2104797"/>
                  </a:lnTo>
                  <a:lnTo>
                    <a:pt x="0" y="2104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435234" y="14727"/>
              <a:ext cx="2090070" cy="2090070"/>
            </a:xfrm>
            <a:custGeom>
              <a:avLst/>
              <a:gdLst/>
              <a:ahLst/>
              <a:cxnLst/>
              <a:rect r="r" b="b" t="t" l="l"/>
              <a:pathLst>
                <a:path h="2090070" w="2090070">
                  <a:moveTo>
                    <a:pt x="0" y="0"/>
                  </a:moveTo>
                  <a:lnTo>
                    <a:pt x="2090070" y="0"/>
                  </a:lnTo>
                  <a:lnTo>
                    <a:pt x="2090070" y="2090070"/>
                  </a:lnTo>
                  <a:lnTo>
                    <a:pt x="0" y="209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718088" y="3679291"/>
            <a:ext cx="12851823" cy="298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6"/>
              </a:lnSpc>
            </a:pPr>
            <a:r>
              <a:rPr lang="en-US" sz="65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</a:t>
            </a:r>
            <a:r>
              <a:rPr lang="en-US" sz="65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LTIMODAL INTELLIGENCE FOR DENTAL ASSESSMENT</a:t>
            </a:r>
          </a:p>
          <a:p>
            <a:pPr algn="ctr">
              <a:lnSpc>
                <a:spcPts val="7866"/>
              </a:lnSpc>
            </a:pPr>
            <a:r>
              <a:rPr lang="en-US" sz="65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 SDM (MIDAS)#15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6081" y="6935834"/>
            <a:ext cx="16515838" cy="76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000000">
                    <a:alpha val="22745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PERAWIS BURANASING · </a:t>
            </a:r>
            <a:r>
              <a:rPr lang="en-US" b="true" sz="2000">
                <a:solidFill>
                  <a:srgbClr val="000000">
                    <a:alpha val="22745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PATHOMPONG PRASITPHOL · PHANA MAHACHAIRACHUN</a:t>
            </a:r>
          </a:p>
          <a:p>
            <a:pPr algn="ctr">
              <a:lnSpc>
                <a:spcPts val="3100"/>
              </a:lnSpc>
            </a:pPr>
            <a:r>
              <a:rPr lang="en-US" b="true" sz="2000">
                <a:solidFill>
                  <a:srgbClr val="000000">
                    <a:alpha val="22745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ADVISORS: DR. QUN JIN · DR. SIRIWAN SUEBNUKARN </a:t>
            </a:r>
            <a:r>
              <a:rPr lang="en-US" sz="2000">
                <a:solidFill>
                  <a:srgbClr val="000000">
                    <a:alpha val="22745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·  DR. KANOKSAK WATTANACHOTE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9382" y="2953693"/>
            <a:ext cx="16589918" cy="175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7" indent="-313054" lvl="1">
              <a:lnSpc>
                <a:spcPts val="4668"/>
              </a:lnSpc>
              <a:buAutoNum type="arabicPeriod" startAt="1"/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MFCC count: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 50 or 60 coefficients help more than smaller choices?</a:t>
            </a:r>
          </a:p>
          <a:p>
            <a:pPr algn="l" marL="626107" indent="-313054" lvl="1">
              <a:lnSpc>
                <a:spcPts val="4668"/>
              </a:lnSpc>
              <a:buAutoNum type="arabicPeriod" startAt="1"/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Review time: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What can text-only ranking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find under the same list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 b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udge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t?</a:t>
            </a:r>
          </a:p>
          <a:p>
            <a:pPr algn="l" marL="626107" indent="-313054" lvl="1">
              <a:lnSpc>
                <a:spcPts val="4668"/>
              </a:lnSpc>
              <a:buAutoNum type="arabicPeriod" startAt="1"/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est: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contr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audio scores imp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rov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review-time curve?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UPDATE </a:t>
            </a:r>
          </a:p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ANSWERS TWO QUESTIONS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83021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395496" y="4846004"/>
          <a:ext cx="5657850" cy="1885950"/>
        </p:xfrm>
        <a:graphic>
          <a:graphicData uri="http://schemas.openxmlformats.org/presentationml/2006/ole">
            <p:oleObj imgW="6781800" imgH="3009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1505388" y="2953893"/>
            <a:ext cx="6153775" cy="4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4544" y="3001518"/>
            <a:ext cx="16394756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Advisor request: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compare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50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60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MFCC coefficients per frame.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 points: 13, 20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40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coefficients span smaller representations.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Five counts × two audio windows: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first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 seconds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the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full turn.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Task: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detect patient Cue/Concern turns under the VR-CoDES framework [1].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193" y="9824914"/>
            <a:ext cx="16230802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[1] C. Zimmermann et al., "Coding patient emotional cues and concerns</a:t>
            </a:r>
            <a:r>
              <a:rPr lang="en-US" sz="1200">
                <a:solidFill>
                  <a:srgbClr val="000000">
                    <a:alpha val="4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in medical consultations: The Verona coding definitions of emotional sequences (VR-CoDES)," Patient Educ Couns, 2011.</a:t>
            </a:r>
          </a:p>
          <a:p>
            <a:pPr algn="l">
              <a:lnSpc>
                <a:spcPts val="16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TESTED THE REQUESTED </a:t>
            </a:r>
          </a:p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 AND 60 MFCC COEFFICIENTS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274514" y="4985965"/>
          <a:ext cx="5657850" cy="2514600"/>
        </p:xfrm>
        <a:graphic>
          <a:graphicData uri="http://schemas.openxmlformats.org/presentationml/2006/ole">
            <p:oleObj imgW="6781800" imgH="3644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12637036" y="4985965"/>
          <a:ext cx="5657850" cy="6915150"/>
        </p:xfrm>
        <a:graphic>
          <a:graphicData uri="http://schemas.openxmlformats.org/presentationml/2006/ole">
            <p:oleObj imgW="7035800" imgH="82931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7659163" y="9694112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535353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66" y="3065726"/>
            <a:ext cx="16476834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Audio → MFCC frames → mean + standard deviation → logistic probe → 1:1 fusion.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Fixed setup: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16 kHz; 25 ms windows; 10 ms hops; 128 mel bands.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er-turn feature size: 2 × n_mfcc.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⚠️ Averaging frames removes their temporal order.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EACH COUNT USED 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SAME FEATURE PIPELINE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399" y="9821748"/>
            <a:ext cx="16230802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[2] T. Saito and M. Rehmsmeier, "The precision-recall plot is more informative than the ROC plot when evaluating binary classifiers on imbalanced datasets," PLOS ONE, 2015.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[3] Y. Benjamini and Y. Hochberg, "Controlling the false discovery rate: A practical and powerful approach to multiple</a:t>
            </a:r>
            <a:r>
              <a:rPr lang="en-US" sz="1200">
                <a:solidFill>
                  <a:srgbClr val="000000">
                    <a:alpha val="4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testing," J R Stat Soc B, 1995.</a:t>
            </a:r>
          </a:p>
          <a:p>
            <a:pPr algn="l">
              <a:lnSpc>
                <a:spcPts val="16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COMPARISON 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HOLDS OUT WHOLE CASES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01516" y="3042285"/>
            <a:ext cx="16476834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set: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723 patient turns from 20 cases; 132 Cue/Concern turns.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 test: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leave one entire case out at a time.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Metric: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PR-AUC for imbalanced labels [2]; earlier text-only out-of-fold score = 0.3710.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Uncertainty: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2,000 paired case bootstrap samples; 12 prespecified contrasts with BH FDR [3].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rule: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positive difference needs a 95% interval above zero and adjusted q &lt; 0.05.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93420" y="3095986"/>
            <a:ext cx="10843076" cy="6627830"/>
          </a:xfrm>
          <a:custGeom>
            <a:avLst/>
            <a:gdLst/>
            <a:ahLst/>
            <a:cxnLst/>
            <a:rect r="r" b="b" t="t" l="l"/>
            <a:pathLst>
              <a:path h="6627830" w="10843076">
                <a:moveTo>
                  <a:pt x="0" y="0"/>
                </a:moveTo>
                <a:lnTo>
                  <a:pt x="10843077" y="0"/>
                </a:lnTo>
                <a:lnTo>
                  <a:pt x="10843077" y="6627830"/>
                </a:lnTo>
                <a:lnTo>
                  <a:pt x="0" y="6627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7185" y="3233853"/>
            <a:ext cx="4781418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ten 95% case intervals cross zero; 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meet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FDR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l-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13: Δ = +0.0044,      q = 0.9535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C31D33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400">
                <a:solidFill>
                  <a:srgbClr val="C31D33"/>
                </a:solidFill>
                <a:latin typeface="Poppins"/>
                <a:ea typeface="Poppins"/>
                <a:cs typeface="Poppins"/>
                <a:sym typeface="Poppins"/>
              </a:rPr>
              <a:t>o coefficient count has a confirmed fusion gain</a:t>
            </a:r>
            <a:r>
              <a:rPr lang="en-US" sz="2400">
                <a:solidFill>
                  <a:srgbClr val="C31D3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3336"/>
            <a:ext cx="15094723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MFCC COUNT SHOWS A CONFIRMED FUSION GAIN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411030" y="4038453"/>
          <a:ext cx="16230600" cy="3231456"/>
        </p:xfrm>
        <a:graphic>
          <a:graphicData uri="http://schemas.openxmlformats.org/presentationml/2006/ole">
            <p:oleObj imgW="19469100" imgH="64770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37185" y="2991560"/>
            <a:ext cx="1224061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Reference text PR-AUC: 0.3710 for all 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co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nditions.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values below are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ut-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old PR-AUC; un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on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 6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3336"/>
            <a:ext cx="929864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FULL SWEEP SHARES ONE TEXT REFERENCE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346182" y="4242837"/>
          <a:ext cx="16230600" cy="5775969"/>
        </p:xfrm>
        <a:graphic>
          <a:graphicData uri="http://schemas.openxmlformats.org/presentationml/2006/ole">
            <p:oleObj imgW="19469100" imgH="90170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1346182" y="6421009"/>
          <a:ext cx="13963258" cy="3580682"/>
        </p:xfrm>
        <a:graphic>
          <a:graphicData uri="http://schemas.openxmlformats.org/presentationml/2006/ole">
            <p:oleObj imgW="16751300" imgH="63627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9422" y="3113172"/>
            <a:ext cx="1644987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requested comparis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uses the same fusion rule in both windows.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⚠️ 50 us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few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fe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tures, but neither count is a confirmed winner.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DATA DO NOT RESOLVE 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 VERSUS 60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313764" y="4623631"/>
          <a:ext cx="13963258" cy="3580682"/>
        </p:xfrm>
        <a:graphic>
          <a:graphicData uri="http://schemas.openxmlformats.org/presentationml/2006/ole">
            <p:oleObj imgW="16751300" imgH="63627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2466" y="3070046"/>
            <a:ext cx="1647683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 audit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723 turns, 20 cases, complete ASR, and valid intervals.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patient speech: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4,149.15 seconds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Review rule: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rank whole turns; stop before the next whole turn would exceed the per-case cap.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BUILT 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TEXT-ONLY REVIEW-TIME BENCHMARK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2929" y="3063600"/>
            <a:ext cx="16211997" cy="23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04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Outer loop: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 each held-out case once.</a:t>
            </a:r>
          </a:p>
          <a:p>
            <a:pPr algn="l" marL="518160" indent="-259080" lvl="1">
              <a:lnSpc>
                <a:spcPts val="304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Inner loop: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compare word and character TF-IDF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on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aining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only.</a:t>
            </a:r>
          </a:p>
          <a:p>
            <a:pPr algn="l" marL="518160" indent="-259080" lvl="1">
              <a:lnSpc>
                <a:spcPts val="304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Character TF-IDF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sel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all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20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outer folds.</a:t>
            </a:r>
          </a:p>
          <a:p>
            <a:pPr algn="l" marL="518160" indent="-259080" lvl="1">
              <a:lnSpc>
                <a:spcPts val="304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New text out-of-fold PR-AUC: 0.4417.</a:t>
            </a:r>
          </a:p>
          <a:p>
            <a:pPr algn="l" marL="518160" indent="-259080" lvl="1">
              <a:lnSpc>
                <a:spcPts val="304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⚠️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0.4417 and the earlier 0.3710 come from different text models; their difference has no paired case interval yet.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TEXT MODEL SELECTION 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STAYS INSIDE TRAINING CASES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9764" y="4696881"/>
            <a:ext cx="7842011" cy="5229641"/>
          </a:xfrm>
          <a:custGeom>
            <a:avLst/>
            <a:gdLst/>
            <a:ahLst/>
            <a:cxnLst/>
            <a:rect r="r" b="b" t="t" l="l"/>
            <a:pathLst>
              <a:path h="5229641" w="7842011">
                <a:moveTo>
                  <a:pt x="0" y="0"/>
                </a:moveTo>
                <a:lnTo>
                  <a:pt x="7842011" y="0"/>
                </a:lnTo>
                <a:lnTo>
                  <a:pt x="7842011" y="5229641"/>
                </a:lnTo>
                <a:lnTo>
                  <a:pt x="0" y="522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9348475" y="4764994"/>
          <a:ext cx="16230600" cy="6196750"/>
        </p:xfrm>
        <a:graphic>
          <a:graphicData uri="http://schemas.openxmlformats.org/presentationml/2006/ole">
            <p:oleObj imgW="19469100" imgH="9436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752581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4705" y="2967436"/>
            <a:ext cx="16378395" cy="150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Illustrative 50% per-case listening cap: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random recall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0.481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; tex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score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0.644.</a:t>
            </a:r>
          </a:p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Score per durat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ion: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recall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0.674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; label-based oracle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1.000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at that cap.</a:t>
            </a:r>
          </a:p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These are descriptive curves without case-level confidence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intervals.</a:t>
            </a:r>
          </a:p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⚠️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50% cap was selected for explaining the plot after the run, not as a primary decision threshold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TEXT RANKINGS SET </a:t>
            </a:r>
          </a:p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REVIEW-TIME REFERENCE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6775" y="3151080"/>
            <a:ext cx="16392525" cy="150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MFCC sweep: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CPU linear probe, not the plann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chunked wav2vec2 A1 study.</a:t>
            </a:r>
          </a:p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A2 curve: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ext-only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tion,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a 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inician list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ning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tudy.</a:t>
            </a:r>
          </a:p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sing: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udio-awa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nk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g, ca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curv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rtainty,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clinician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text,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 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e.</a:t>
            </a:r>
          </a:p>
          <a:p>
            <a:pPr algn="l" marL="518160" indent="-259080" lvl="1">
              <a:lnSpc>
                <a:spcPts val="2976"/>
              </a:lnSpc>
              <a:buFont typeface="Arial"/>
              <a:buChar char="•"/>
            </a:pPr>
            <a:r>
              <a:rPr lang="en-US" b="true" sz="2400">
                <a:solidFill>
                  <a:srgbClr val="C31D33"/>
                </a:solidFill>
                <a:latin typeface="Poppins Bold"/>
                <a:ea typeface="Poppins Bold"/>
                <a:cs typeface="Poppins Bold"/>
                <a:sym typeface="Poppins Bold"/>
              </a:rPr>
              <a:t>We cannot yet claim that audio saves review time or finds otherwise missed Cues.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3336"/>
            <a:ext cx="150947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THESE RESULTS DO NOT YET </a:t>
            </a:r>
          </a:p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AUDIO-ASSISTED REVIEW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094292" cy="800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362003" y="3675592"/>
          <a:ext cx="16230600" cy="6196750"/>
        </p:xfrm>
        <a:graphic>
          <a:graphicData uri="http://schemas.openxmlformats.org/presentationml/2006/ole">
            <p:oleObj imgW="19469100" imgH="9436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Code Pro"/>
                <a:ea typeface="Code Pro"/>
                <a:cs typeface="Code Pro"/>
                <a:sym typeface="Code Pro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7402" y="3024586"/>
            <a:ext cx="16461898" cy="44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347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Next work con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nects c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ntroll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aud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 inputs to the ex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isting review-time benchmark.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3336"/>
            <a:ext cx="15094723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CONTROLLED AUDIO SCORES </a:t>
            </a:r>
          </a:p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WILL FEED A2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8747"/>
            <a:ext cx="30733015" cy="2895405"/>
            <a:chOff x="0" y="0"/>
            <a:chExt cx="8094292" cy="76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4292" cy="762576"/>
            </a:xfrm>
            <a:custGeom>
              <a:avLst/>
              <a:gdLst/>
              <a:ahLst/>
              <a:cxnLst/>
              <a:rect r="r" b="b" t="t" l="l"/>
              <a:pathLst>
                <a:path h="762576" w="8094292">
                  <a:moveTo>
                    <a:pt x="0" y="0"/>
                  </a:moveTo>
                  <a:lnTo>
                    <a:pt x="8094292" y="0"/>
                  </a:lnTo>
                  <a:lnTo>
                    <a:pt x="8094292" y="762576"/>
                  </a:lnTo>
                  <a:lnTo>
                    <a:pt x="0" y="762576"/>
                  </a:lnTo>
                  <a:close/>
                </a:path>
              </a:pathLst>
            </a:custGeom>
            <a:gradFill rotWithShape="true">
              <a:gsLst>
                <a:gs pos="0">
                  <a:srgbClr val="030F7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94292" cy="79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38982"/>
            <a:ext cx="16230600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[1] C. Zimmermann et al., "Coding patient emotional cues and concerns in medical consultations: The Verona coding definitions of emotional sequences (VR-CoDES)," Patient Education and Counseling, vol. 82, no. 2, pp. 141–148, 2011. doi: 10.1016/j.pec.2010.03.017. </a:t>
            </a:r>
            <a:r>
              <a:rPr lang="en-US" sz="1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3" tooltip="https://www.sciencedirect.com/science/article/pii/S0738399110001680"/>
              </a:rPr>
              <a:t>Official source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[2] T. Saito and M. Rehmsmeier, "The precision-recall plot is more informative than the ROC plot when evaluating binary classifiers on imbalanced datasets," PLOS ONE, vol. 10, no. 3, e0118432, 2015. doi: 10.1371/journal.pone.0118432. </a:t>
            </a:r>
            <a:r>
              <a:rPr lang="en-US" sz="1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journals.plos.org/plosone/article?id=10.1371/journal.pone.0118432"/>
              </a:rPr>
              <a:t>Official source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[3] Y. Benjamini and Y. Hochberg, "Controlling the false discovery rate: A practical and powerful approach to multiple testing," Journal of the Royal Statistical Society: Series B (Methodological), vol. 57, no. 1, pp. 289–300, 1995. doi: 10.1111/j.2517-6161.1995.tb02031.x. </a:t>
            </a:r>
            <a:r>
              <a:rPr lang="en-US" sz="1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5" tooltip="https://academic.oup.com/jrsssb/article/57/1/289/7035855"/>
              </a:rPr>
              <a:t>Official source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59163" y="962743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>
                    <a:alpha val="49804"/>
                  </a:srgbClr>
                </a:solidFill>
                <a:latin typeface="Garuda"/>
                <a:ea typeface="Garuda"/>
                <a:cs typeface="Garuda"/>
                <a:sym typeface="Garuda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25061"/>
            <a:ext cx="13345747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>
                <a:solidFill>
                  <a:srgbClr val="FFDC5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7076" y="2457430"/>
            <a:ext cx="13193847" cy="59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57"/>
              </a:lnSpc>
            </a:pPr>
            <a:r>
              <a:rPr lang="en-US" sz="227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  <a:r>
              <a:rPr lang="en-US" sz="22757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27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09901" y="8378984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8" y="0"/>
                </a:lnTo>
                <a:lnTo>
                  <a:pt x="1868198" y="618203"/>
                </a:lnTo>
                <a:lnTo>
                  <a:pt x="0" y="618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99358" y="3773503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0" y="0"/>
                </a:moveTo>
                <a:lnTo>
                  <a:pt x="5051790" y="0"/>
                </a:lnTo>
                <a:lnTo>
                  <a:pt x="5051790" y="7861360"/>
                </a:lnTo>
                <a:lnTo>
                  <a:pt x="0" y="7861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455035" y="-442015"/>
            <a:ext cx="3869203" cy="6021072"/>
          </a:xfrm>
          <a:custGeom>
            <a:avLst/>
            <a:gdLst/>
            <a:ahLst/>
            <a:cxnLst/>
            <a:rect r="r" b="b" t="t" l="l"/>
            <a:pathLst>
              <a:path h="6021072" w="3869203">
                <a:moveTo>
                  <a:pt x="3869203" y="6021072"/>
                </a:moveTo>
                <a:lnTo>
                  <a:pt x="0" y="6021072"/>
                </a:lnTo>
                <a:lnTo>
                  <a:pt x="0" y="0"/>
                </a:lnTo>
                <a:lnTo>
                  <a:pt x="3869203" y="0"/>
                </a:lnTo>
                <a:lnTo>
                  <a:pt x="3869203" y="60210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25278" y="913053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47307" y="-154107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DAHWveodPRs</dc:identifier>
  <dcterms:modified xsi:type="dcterms:W3CDTF">2011-08-01T06:04:30Z</dcterms:modified>
  <cp:revision>1</cp:revision>
  <dc:title>15_01102026</dc:title>
</cp:coreProperties>
</file>